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78" r:id="rId27"/>
    <p:sldId id="257" r:id="rId6"/>
    <p:sldId id="277" r:id="rId26"/>
    <p:sldId id="258" r:id="rId7"/>
    <p:sldId id="259" r:id="rId8"/>
    <p:sldId id="276" r:id="rId25"/>
    <p:sldId id="275" r:id="rId24"/>
    <p:sldId id="274" r:id="rId23"/>
    <p:sldId id="273" r:id="rId22"/>
    <p:sldId id="260" r:id="rId9"/>
    <p:sldId id="261" r:id="rId10"/>
    <p:sldId id="272" r:id="rId21"/>
    <p:sldId id="271" r:id="rId20"/>
    <p:sldId id="270" r:id="rId19"/>
    <p:sldId id="269" r:id="rId18"/>
    <p:sldId id="268" r:id="rId17"/>
    <p:sldId id="262" r:id="rId11"/>
    <p:sldId id="267" r:id="rId16"/>
    <p:sldId id="263" r:id="rId12"/>
    <p:sldId id="264" r:id="rId13"/>
    <p:sldId id="266" r:id="rId15"/>
    <p:sldId id="265" r:id="rId14"/>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15.xml"/><Relationship Id="rId16" Type="http://schemas.openxmlformats.org/officeDocument/2006/relationships/slide" Target="slides/slide14.xml"/><Relationship Id="rId17" Type="http://schemas.openxmlformats.org/officeDocument/2006/relationships/slide" Target="slides/slide13.xml"/><Relationship Id="rId18" Type="http://schemas.openxmlformats.org/officeDocument/2006/relationships/slide" Target="slides/slide12.xml"/><Relationship Id="rId19" Type="http://schemas.openxmlformats.org/officeDocument/2006/relationships/slide" Target="slides/slide11.xml"/><Relationship Id="rId20" Type="http://schemas.openxmlformats.org/officeDocument/2006/relationships/slide" Target="slides/slide10.xml"/><Relationship Id="rId21" Type="http://schemas.openxmlformats.org/officeDocument/2006/relationships/slide" Target="slides/slide9.xml"/><Relationship Id="rId22" Type="http://schemas.openxmlformats.org/officeDocument/2006/relationships/slide" Target="slides/slide8.xml"/><Relationship Id="rId23" Type="http://schemas.openxmlformats.org/officeDocument/2006/relationships/slide" Target="slides/slide7.xml"/><Relationship Id="rId24" Type="http://schemas.openxmlformats.org/officeDocument/2006/relationships/slide" Target="slides/slide6.xml"/><Relationship Id="rId25" Type="http://schemas.openxmlformats.org/officeDocument/2006/relationships/slide" Target="slides/slide5.xml"/><Relationship Id="rId26" Type="http://schemas.openxmlformats.org/officeDocument/2006/relationships/slide" Target="slides/slide4.xml"/><Relationship Id="rId27"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E1B5B"/>
                </a:solidFill>
                <a:latin typeface="Calibri"/>
              </a:rPr>
              <a:t>QBER: BB84 safety limit vs attack (%)</a:t>
            </a:r>
          </a:p>
        </c:rich>
      </c:tx>
      <c:layout/>
      <c:overlay val="0"/>
    </c:title>
    <c:autoTitleDeleted val="0"/>
    <c:plotArea>
      <c:barChart>
        <c:barDir val="col"/>
        <c:grouping val="clustered"/>
        <c:varyColors val="0"/>
        <c:ser>
          <c:idx val="0"/>
          <c:order val="0"/>
          <c:tx>
            <c:strRef>
              <c:f>Sheet1!$B$1</c:f>
              <c:strCache>
                <c:ptCount val="1"/>
                <c:pt idx="0">
                  <c:v>QBER (%)</c:v>
                </c:pt>
              </c:strCache>
            </c:strRef>
          </c:tx>
          <c:dPt>
            <c:idx val="0"/>
            <c:spPr>
              <a:solidFill>
                <a:srgbClr val="5B3BA8"/>
              </a:solidFill>
            </c:spPr>
          </c:dPt>
          <c:dPt>
            <c:idx val="1"/>
            <c:spPr>
              <a:solidFill>
                <a:srgbClr val="E8639F"/>
              </a:solidFill>
            </c:spPr>
          </c:dPt>
          <c:cat>
            <c:strRef>
              <c:f>Sheet1!$A$2:$A$3</c:f>
              <c:strCache>
                <c:ptCount val="2"/>
                <c:pt idx="0">
                  <c:v>BB84 safety limit</c:v>
                </c:pt>
                <c:pt idx="1">
                  <c:v>Intercept-resend attack</c:v>
                </c:pt>
              </c:strCache>
            </c:strRef>
          </c:cat>
          <c:val>
            <c:numRef>
              <c:f>Sheet1!$B$2:$B$3</c:f>
              <c:numCache>
                <c:formatCode>General</c:formatCode>
                <c:ptCount val="2"/>
                <c:pt idx="0">
                  <c:v>11</c:v>
                </c:pt>
                <c:pt idx="1">
                  <c:v>25</c:v>
                </c:pt>
              </c:numCache>
            </c:numRef>
          </c:val>
        </c:ser>
        <c:dLbls>
          <c:numFmt formatCode="&quot;~&quot;0&quot;%&quot;" sourceLinked="0"/>
          <c:txPr>
            <a:bodyPr/>
            <a:lstStyle/>
            <a:p>
              <a:pPr>
                <a:defRPr sz="1400" b="1">
                  <a:solidFill>
                    <a:srgbClr val="2E1B5B"/>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B8BDEB"/>
            </a:solidFill>
          </a:ln>
        </c:spPr>
        <c:txPr>
          <a:bodyPr/>
          <a:lstStyle/>
          <a:p>
            <a:pPr>
              <a:defRPr sz="1200">
                <a:solidFill>
                  <a:srgbClr val="2E1B5B"/>
                </a:solidFill>
                <a:latin typeface="Calibri"/>
              </a:defRPr>
            </a:pPr>
          </a:p>
        </c:txPr>
        <c:crossAx val="-2113994440"/>
        <c:crosses val="autoZero"/>
        <c:auto val="1"/>
        <c:lblAlgn val="ctr"/>
        <c:lblOffset val="100"/>
        <c:noMultiLvlLbl val="0"/>
      </c:catAx>
      <c:valAx>
        <c:axId val="-2113994440"/>
        <c:scaling>
          <c:max val="30.0"/>
          <c:min val="0.0"/>
        </c:scaling>
        <c:delete val="0"/>
        <c:axPos val="l"/>
        <c:majorGridlines>
          <c:spPr>
            <a:ln>
              <a:solidFill>
                <a:srgbClr val="B8BDEB"/>
              </a:solidFill>
            </a:ln>
          </c:spPr>
        </c:majorGridlines>
        <c:majorTickMark val="out"/>
        <c:minorTickMark val="none"/>
        <c:tickLblPos val="nextTo"/>
        <c:spPr>
          <a:ln>
            <a:noFill/>
          </a:ln>
        </c:spPr>
        <c:txPr>
          <a:bodyPr/>
          <a:lstStyle/>
          <a:p>
            <a:pPr>
              <a:defRPr sz="1100">
                <a:solidFill>
                  <a:srgbClr val="6F7399"/>
                </a:solidFill>
                <a:latin typeface="Calibri"/>
              </a:defRPr>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10/22/2026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quantum.cloud.ibm.com/docs" TargetMode="External"/><Relationship Id="rId3" Type="http://schemas.openxmlformats.org/officeDocument/2006/relationships/hyperlink" Target="https://qiskit.github.io/qiskit-aer/" TargetMode="External"/><Relationship Id="rId4" Type="http://schemas.openxmlformats.org/officeDocument/2006/relationships/hyperlink" Target="https://docs.streamlit.io" TargetMode="External"/><Relationship Id="rId5" Type="http://schemas.openxmlformats.org/officeDocument/2006/relationships/hyperlink" Target="https://en.wikipedia.org/wiki/BB8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github.com/sharshavardhaan05-rgb/vtu-hc-qubits-infernova" TargetMode="External"/><Relationship Id="rId8" Type="http://schemas.openxmlformats.org/officeDocument/2006/relationships/hyperlink" Target="https://youtu.be/OWE-jyP49VE?si=bAevk2AoOo9ckOkX"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ID VTU-QFF-HC-0094</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pPr marL="0" indent="0" algn="l">
              <a:buNone/>
            </a:pPr>
            <a:r>
              <a:rPr lang="en-US" sz="1300" i="0" dirty="0" b="1">
                <a:solidFill>
                  <a:srgbClr val="2E1B5B"/>
                </a:solidFill>
                <a:latin typeface="Calibri" pitchFamily="34" charset="0"/>
                <a:ea typeface="Calibri" pitchFamily="34" charset="-122"/>
                <a:cs typeface="Calibri" pitchFamily="34" charset="-120"/>
              </a:rPr>
              <a:t>QuantaGuard Chat</a:t>
            </a:r>
            <a:endParaRPr lang="en-US" sz="900" dirty="0"/>
          </a:p>
        </p:txBody>
      </p:sp>
      <p:sp>
        <p:nvSpPr>
          <p:cNvPr id="11" name="Field: TRACK"/>
          <p:cNvSpPr/>
          <p:nvPr/>
        </p:nvSpPr>
        <p:spPr>
          <a:xfrm>
            <a:off x="4023360" y="1865376"/>
            <a:ext cx="269748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a:t>
            </a:r>
            <a:endParaRPr lang="en-US" sz="900" dirty="0"/>
          </a:p>
          <a:p>
            <a:pPr marL="0" indent="0" algn="l">
              <a:buNone/>
            </a:pPr>
            <a:r>
              <a:rPr lang="en-US" sz="1050" i="0" dirty="0" b="1">
                <a:solidFill>
                  <a:srgbClr val="2E1B5B"/>
                </a:solidFill>
                <a:latin typeface="Calibri" pitchFamily="34" charset="0"/>
                <a:ea typeface="Calibri" pitchFamily="34" charset="-122"/>
                <a:cs typeface="Calibri" pitchFamily="34" charset="-120"/>
              </a:rPr>
              <a:t>Track 1: Quantum Cryptography &amp; Security</a:t>
            </a:r>
            <a:endParaRPr lang="en-US" sz="900" dirty="0"/>
          </a:p>
        </p:txBody>
      </p:sp>
      <p:sp>
        <p:nvSpPr>
          <p:cNvPr id="12" name="Field: TEAM NAME"/>
          <p:cNvSpPr/>
          <p:nvPr/>
        </p:nvSpPr>
        <p:spPr>
          <a:xfrm>
            <a:off x="6812280" y="1865376"/>
            <a:ext cx="1874519"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pPr marL="0" indent="0" algn="l">
              <a:buNone/>
            </a:pPr>
            <a:r>
              <a:rPr lang="en-US" sz="1200" i="0" dirty="0" b="1">
                <a:solidFill>
                  <a:srgbClr val="2E1B5B"/>
                </a:solidFill>
                <a:latin typeface="Calibri" pitchFamily="34" charset="0"/>
                <a:ea typeface="Calibri" pitchFamily="34" charset="-122"/>
                <a:cs typeface="Calibri" pitchFamily="34" charset="-120"/>
              </a:rPr>
              <a:t>Qubits Infernova</a:t>
            </a:r>
            <a:endParaRPr lang="en-US" sz="9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i="0" dirty="0" b="1">
                <a:solidFill>
                  <a:srgbClr val="2E1B5B"/>
                </a:solidFill>
                <a:latin typeface="Calibri" pitchFamily="34" charset="0"/>
                <a:ea typeface="Calibri" pitchFamily="34" charset="-122"/>
                <a:cs typeface="Calibri" pitchFamily="34" charset="-120"/>
              </a:rPr>
              <a:t>Harshavardhaan S</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 CONTACT</a:t>
            </a:r>
            <a:endParaRPr lang="en-US" sz="900" dirty="0"/>
          </a:p>
          <a:p>
            <a:pPr marL="0" indent="0" algn="l">
              <a:buNone/>
            </a:pPr>
            <a:r>
              <a:rPr lang="en-US" sz="1050" i="0" dirty="0" b="1">
                <a:solidFill>
                  <a:srgbClr val="2E1B5B"/>
                </a:solidFill>
                <a:latin typeface="Calibri" pitchFamily="34" charset="0"/>
                <a:ea typeface="Calibri" pitchFamily="34" charset="-122"/>
                <a:cs typeface="Calibri" pitchFamily="34" charset="-120"/>
              </a:rPr>
              <a:t>github.com/sharshavardhaan05-rgb</a:t>
            </a:r>
            <a:endParaRPr lang="en-US" sz="900" dirty="0"/>
          </a:p>
        </p:txBody>
      </p:sp>
      <p:sp>
        <p:nvSpPr>
          <p:cNvPr id="15" name="Field: TEAM MEMBERS"/>
          <p:cNvSpPr/>
          <p:nvPr/>
        </p:nvSpPr>
        <p:spPr>
          <a:xfrm>
            <a:off x="4023360" y="3072384"/>
            <a:ext cx="466344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pPr marL="0" indent="0" algn="l">
              <a:buNone/>
            </a:pPr>
            <a:r>
              <a:rPr lang="en-US" sz="1200" i="0" dirty="0" b="1">
                <a:solidFill>
                  <a:srgbClr val="2E1B5B"/>
                </a:solidFill>
                <a:latin typeface="Calibri" pitchFamily="34" charset="0"/>
                <a:ea typeface="Calibri" pitchFamily="34" charset="-122"/>
                <a:cs typeface="Calibri" pitchFamily="34" charset="-120"/>
              </a:rPr>
              <a:t>Harshavardhaan S (Team Lead)  ·  Garima Mishra V  ·  Ameerkhan S</a:t>
            </a:r>
            <a:endParaRPr lang="en-US" sz="900" dirty="0"/>
          </a:p>
        </p:txBody>
      </p:sp>
      <p:sp>
        <p:nvSpPr>
          <p:cNvPr id="16" name="Field: INSTITUTION / ORGANISATION"/>
          <p:cNvSpPr/>
          <p:nvPr/>
        </p:nvSpPr>
        <p:spPr>
          <a:xfrm>
            <a:off x="402336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EVENT</a:t>
            </a:r>
            <a:endParaRPr lang="en-US" sz="900" dirty="0"/>
          </a:p>
          <a:p>
            <a:pPr marL="0" indent="0" algn="l">
              <a:buNone/>
            </a:pPr>
            <a:r>
              <a:rPr lang="en-US" sz="1150" i="0" dirty="0" b="1">
                <a:solidFill>
                  <a:srgbClr val="2E1B5B"/>
                </a:solidFill>
                <a:latin typeface="Calibri" pitchFamily="34" charset="0"/>
                <a:ea typeface="Calibri" pitchFamily="34" charset="-122"/>
                <a:cs typeface="Calibri" pitchFamily="34" charset="-120"/>
              </a:rPr>
              <a:t>VTU-Qiskit Fall Fest 2026</a:t>
            </a:r>
            <a:endParaRPr lang="en-US" sz="900" dirty="0"/>
          </a:p>
        </p:txBody>
      </p:sp>
      <p:sp>
        <p:nvSpPr>
          <p:cNvPr id="17" name="Field: COUNTRY"/>
          <p:cNvSpPr/>
          <p:nvPr/>
        </p:nvSpPr>
        <p:spPr>
          <a:xfrm>
            <a:off x="640080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i="0" dirty="0" b="1">
                <a:solidFill>
                  <a:srgbClr val="2E1B5B"/>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5120640" cy="210312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1828800"/>
            <a:ext cx="4572000" cy="182880"/>
          </a:xfrm>
          <a:prstGeom prst="rect">
            <a:avLst/>
          </a:prstGeom>
          <a:noFill/>
        </p:spPr>
        <p:txBody>
          <a:bodyPr wrap="square" lIns="0" tIns="0" rIns="0" bIns="0" anchor="t">
            <a:spAutoFit/>
          </a:bodyPr>
          <a:lstStyle/>
          <a:p>
            <a:r>
              <a:rPr sz="950" b="1" i="0" spc="100">
                <a:solidFill>
                  <a:srgbClr val="5B3BA8"/>
                </a:solidFill>
                <a:latin typeface="Calibri"/>
              </a:rPr>
              <a:t>THE PROBLEM</a:t>
            </a:r>
          </a:p>
        </p:txBody>
      </p:sp>
      <p:sp>
        <p:nvSpPr>
          <p:cNvPr id="28" name="TextBox 27"/>
          <p:cNvSpPr txBox="1"/>
          <p:nvPr/>
        </p:nvSpPr>
        <p:spPr>
          <a:xfrm>
            <a:off x="685800" y="2084831"/>
            <a:ext cx="4663440" cy="1645920"/>
          </a:xfrm>
          <a:prstGeom prst="rect">
            <a:avLst/>
          </a:prstGeom>
          <a:noFill/>
        </p:spPr>
        <p:txBody>
          <a:bodyPr wrap="square" lIns="0" tIns="0" rIns="0" bIns="0" anchor="t">
            <a:spAutoFit/>
          </a:bodyPr>
          <a:lstStyle/>
          <a:p>
            <a:pPr>
              <a:lnSpc>
                <a:spcPct val="105000"/>
              </a:lnSpc>
            </a:pPr>
            <a:r>
              <a:rPr sz="1350" b="0" i="0">
                <a:solidFill>
                  <a:srgbClr val="3B3470"/>
                </a:solidFill>
                <a:latin typeface="Calibri"/>
              </a:rPr>
              <a:t>Adversaries are recording encrypted defence, government and journalist communications today to decrypt them once quantum computers mature (“harvest now, decrypt later”). Quantum key distribution (QKD) can expose eavesdropping, but real channels such as fibre, satellite and field links are noisy, so operators cannot tell a degraded link from an active attack.</a:t>
            </a:r>
          </a:p>
        </p:txBody>
      </p:sp>
      <p:sp>
        <p:nvSpPr>
          <p:cNvPr id="29" name="Rounded Rectangle 28"/>
          <p:cNvSpPr/>
          <p:nvPr/>
        </p:nvSpPr>
        <p:spPr>
          <a:xfrm>
            <a:off x="5760720" y="1691640"/>
            <a:ext cx="292608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870448" y="1819656"/>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1</a:t>
            </a:r>
          </a:p>
        </p:txBody>
      </p:sp>
      <p:sp>
        <p:nvSpPr>
          <p:cNvPr id="31" name="TextBox 30"/>
          <p:cNvSpPr txBox="1"/>
          <p:nvPr/>
        </p:nvSpPr>
        <p:spPr>
          <a:xfrm>
            <a:off x="6382512" y="1691640"/>
            <a:ext cx="2240280" cy="640080"/>
          </a:xfrm>
          <a:prstGeom prst="rect">
            <a:avLst/>
          </a:prstGeom>
          <a:noFill/>
        </p:spPr>
        <p:txBody>
          <a:bodyPr wrap="square" lIns="0" tIns="0" rIns="0" bIns="0" anchor="ctr">
            <a:spAutoFit/>
          </a:bodyPr>
          <a:lstStyle/>
          <a:p>
            <a:r>
              <a:rPr sz="1250" b="1" i="0">
                <a:solidFill>
                  <a:srgbClr val="2E1B5B"/>
                </a:solidFill>
                <a:latin typeface="Calibri"/>
              </a:rPr>
              <a:t>Harvest now, decrypt later</a:t>
            </a:r>
          </a:p>
          <a:p>
            <a:r>
              <a:rPr sz="1050" b="0" i="0">
                <a:solidFill>
                  <a:srgbClr val="6F7399"/>
                </a:solidFill>
                <a:latin typeface="Calibri"/>
              </a:rPr>
              <a:t>Recorded today, cracked when quantum matures</a:t>
            </a:r>
          </a:p>
        </p:txBody>
      </p:sp>
      <p:sp>
        <p:nvSpPr>
          <p:cNvPr id="32" name="Rounded Rectangle 31"/>
          <p:cNvSpPr/>
          <p:nvPr/>
        </p:nvSpPr>
        <p:spPr>
          <a:xfrm>
            <a:off x="5760720" y="2423160"/>
            <a:ext cx="292608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870448" y="2551176"/>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2</a:t>
            </a:r>
          </a:p>
        </p:txBody>
      </p:sp>
      <p:sp>
        <p:nvSpPr>
          <p:cNvPr id="34" name="TextBox 33"/>
          <p:cNvSpPr txBox="1"/>
          <p:nvPr/>
        </p:nvSpPr>
        <p:spPr>
          <a:xfrm>
            <a:off x="6382512" y="2423160"/>
            <a:ext cx="2240280" cy="640080"/>
          </a:xfrm>
          <a:prstGeom prst="rect">
            <a:avLst/>
          </a:prstGeom>
          <a:noFill/>
        </p:spPr>
        <p:txBody>
          <a:bodyPr wrap="square" lIns="0" tIns="0" rIns="0" bIns="0" anchor="ctr">
            <a:spAutoFit/>
          </a:bodyPr>
          <a:lstStyle/>
          <a:p>
            <a:r>
              <a:rPr sz="1250" b="1" i="0">
                <a:solidFill>
                  <a:srgbClr val="2E1B5B"/>
                </a:solidFill>
                <a:latin typeface="Calibri"/>
              </a:rPr>
              <a:t>Noisy real channels</a:t>
            </a:r>
          </a:p>
          <a:p>
            <a:r>
              <a:rPr sz="1050" b="0" i="0">
                <a:solidFill>
                  <a:srgbClr val="6F7399"/>
                </a:solidFill>
                <a:latin typeface="Calibri"/>
              </a:rPr>
              <a:t>Fibre, satellite and field links</a:t>
            </a:r>
          </a:p>
        </p:txBody>
      </p:sp>
      <p:sp>
        <p:nvSpPr>
          <p:cNvPr id="35" name="Rounded Rectangle 34"/>
          <p:cNvSpPr/>
          <p:nvPr/>
        </p:nvSpPr>
        <p:spPr>
          <a:xfrm>
            <a:off x="5760720" y="3154680"/>
            <a:ext cx="292608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870448" y="3282696"/>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3</a:t>
            </a:r>
          </a:p>
        </p:txBody>
      </p:sp>
      <p:sp>
        <p:nvSpPr>
          <p:cNvPr id="37" name="TextBox 36"/>
          <p:cNvSpPr txBox="1"/>
          <p:nvPr/>
        </p:nvSpPr>
        <p:spPr>
          <a:xfrm>
            <a:off x="6382512" y="3154680"/>
            <a:ext cx="2240280" cy="640080"/>
          </a:xfrm>
          <a:prstGeom prst="rect">
            <a:avLst/>
          </a:prstGeom>
          <a:noFill/>
        </p:spPr>
        <p:txBody>
          <a:bodyPr wrap="square" lIns="0" tIns="0" rIns="0" bIns="0" anchor="ctr">
            <a:spAutoFit/>
          </a:bodyPr>
          <a:lstStyle/>
          <a:p>
            <a:r>
              <a:rPr sz="1250" b="1" i="0">
                <a:solidFill>
                  <a:srgbClr val="2E1B5B"/>
                </a:solidFill>
                <a:latin typeface="Calibri"/>
              </a:rPr>
              <a:t>Noise or attack?</a:t>
            </a:r>
          </a:p>
          <a:p>
            <a:r>
              <a:rPr sz="1050" b="0" i="0">
                <a:solidFill>
                  <a:srgbClr val="6F7399"/>
                </a:solidFill>
                <a:latin typeface="Calibri"/>
              </a:rPr>
              <a:t>A degraded link looks like an intruder</a:t>
            </a:r>
          </a:p>
        </p:txBody>
      </p:sp>
      <p:sp>
        <p:nvSpPr>
          <p:cNvPr id="38" name="Rounded Rectangle 37"/>
          <p:cNvSpPr/>
          <p:nvPr/>
        </p:nvSpPr>
        <p:spPr>
          <a:xfrm>
            <a:off x="457200" y="3931920"/>
            <a:ext cx="8229600" cy="685800"/>
          </a:xfrm>
          <a:prstGeom prst="roundRect">
            <a:avLst>
              <a:gd name="adj" fmla="val 10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0" rIns="228600" bIns="0"/>
          <a:lstStyle/>
          <a:p>
            <a:pPr algn="l"/>
            <a:r>
              <a:rPr sz="1000" b="1" i="0" spc="100">
                <a:solidFill>
                  <a:srgbClr val="F4B6D2"/>
                </a:solidFill>
                <a:latin typeface="Calibri"/>
              </a:rPr>
              <a:t>TRACK / CATEGORY   </a:t>
            </a:r>
            <a:r>
              <a:rPr sz="1400" b="1" i="0">
                <a:solidFill>
                  <a:srgbClr val="FFFFFF"/>
                </a:solidFill>
                <a:latin typeface="Calibri"/>
              </a:rPr>
              <a:t>Track 1: Quantum Cryptography &amp; Security   ·   Mode: Online / Offline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Team &amp; Event Details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393192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1828800"/>
            <a:ext cx="3474720" cy="182880"/>
          </a:xfrm>
          <a:prstGeom prst="rect">
            <a:avLst/>
          </a:prstGeom>
          <a:noFill/>
        </p:spPr>
        <p:txBody>
          <a:bodyPr wrap="square" lIns="0" tIns="0" rIns="0" bIns="0" anchor="t">
            <a:spAutoFit/>
          </a:bodyPr>
          <a:lstStyle/>
          <a:p>
            <a:r>
              <a:rPr sz="950" b="1" i="0" spc="100">
                <a:solidFill>
                  <a:srgbClr val="5B3BA8"/>
                </a:solidFill>
                <a:latin typeface="Calibri"/>
              </a:rPr>
              <a:t>TEAM DETAILS</a:t>
            </a:r>
          </a:p>
        </p:txBody>
      </p:sp>
      <p:sp>
        <p:nvSpPr>
          <p:cNvPr id="28" name="TextBox 27"/>
          <p:cNvSpPr txBox="1"/>
          <p:nvPr/>
        </p:nvSpPr>
        <p:spPr>
          <a:xfrm>
            <a:off x="685800" y="2084831"/>
            <a:ext cx="1005840" cy="365760"/>
          </a:xfrm>
          <a:prstGeom prst="rect">
            <a:avLst/>
          </a:prstGeom>
          <a:noFill/>
        </p:spPr>
        <p:txBody>
          <a:bodyPr wrap="square" lIns="0" tIns="0" rIns="0" bIns="0" anchor="ctr">
            <a:spAutoFit/>
          </a:bodyPr>
          <a:lstStyle/>
          <a:p>
            <a:r>
              <a:rPr sz="1100" b="1" i="0">
                <a:solidFill>
                  <a:srgbClr val="6F7399"/>
                </a:solidFill>
                <a:latin typeface="Calibri"/>
              </a:rPr>
              <a:t>Team</a:t>
            </a:r>
          </a:p>
        </p:txBody>
      </p:sp>
      <p:sp>
        <p:nvSpPr>
          <p:cNvPr id="29" name="TextBox 28"/>
          <p:cNvSpPr txBox="1"/>
          <p:nvPr/>
        </p:nvSpPr>
        <p:spPr>
          <a:xfrm>
            <a:off x="1691640" y="2084831"/>
            <a:ext cx="2606040" cy="365760"/>
          </a:xfrm>
          <a:prstGeom prst="rect">
            <a:avLst/>
          </a:prstGeom>
          <a:noFill/>
        </p:spPr>
        <p:txBody>
          <a:bodyPr wrap="square" lIns="0" tIns="0" rIns="0" bIns="0" anchor="ctr">
            <a:spAutoFit/>
          </a:bodyPr>
          <a:lstStyle/>
          <a:p>
            <a:r>
              <a:rPr sz="1200" b="1" i="0">
                <a:solidFill>
                  <a:srgbClr val="2E1B5B"/>
                </a:solidFill>
                <a:latin typeface="Calibri"/>
              </a:rPr>
              <a:t>Qubits Infernova</a:t>
            </a:r>
          </a:p>
        </p:txBody>
      </p:sp>
      <p:sp>
        <p:nvSpPr>
          <p:cNvPr id="30" name="TextBox 29"/>
          <p:cNvSpPr txBox="1"/>
          <p:nvPr/>
        </p:nvSpPr>
        <p:spPr>
          <a:xfrm>
            <a:off x="685800" y="2487168"/>
            <a:ext cx="1005840" cy="365760"/>
          </a:xfrm>
          <a:prstGeom prst="rect">
            <a:avLst/>
          </a:prstGeom>
          <a:noFill/>
        </p:spPr>
        <p:txBody>
          <a:bodyPr wrap="square" lIns="0" tIns="0" rIns="0" bIns="0" anchor="ctr">
            <a:spAutoFit/>
          </a:bodyPr>
          <a:lstStyle/>
          <a:p>
            <a:r>
              <a:rPr sz="1100" b="1" i="0">
                <a:solidFill>
                  <a:srgbClr val="6F7399"/>
                </a:solidFill>
                <a:latin typeface="Calibri"/>
              </a:rPr>
              <a:t>Team ID</a:t>
            </a:r>
          </a:p>
        </p:txBody>
      </p:sp>
      <p:sp>
        <p:nvSpPr>
          <p:cNvPr id="31" name="TextBox 30"/>
          <p:cNvSpPr txBox="1"/>
          <p:nvPr/>
        </p:nvSpPr>
        <p:spPr>
          <a:xfrm>
            <a:off x="1691640" y="2487168"/>
            <a:ext cx="2606040" cy="365760"/>
          </a:xfrm>
          <a:prstGeom prst="rect">
            <a:avLst/>
          </a:prstGeom>
          <a:noFill/>
        </p:spPr>
        <p:txBody>
          <a:bodyPr wrap="square" lIns="0" tIns="0" rIns="0" bIns="0" anchor="ctr">
            <a:spAutoFit/>
          </a:bodyPr>
          <a:lstStyle/>
          <a:p>
            <a:r>
              <a:rPr sz="1200" b="1" i="0">
                <a:solidFill>
                  <a:srgbClr val="2E1B5B"/>
                </a:solidFill>
                <a:latin typeface="Calibri"/>
              </a:rPr>
              <a:t>VTU-QFF-HC-0094</a:t>
            </a:r>
          </a:p>
        </p:txBody>
      </p:sp>
      <p:sp>
        <p:nvSpPr>
          <p:cNvPr id="32" name="TextBox 31"/>
          <p:cNvSpPr txBox="1"/>
          <p:nvPr/>
        </p:nvSpPr>
        <p:spPr>
          <a:xfrm>
            <a:off x="685800" y="2889503"/>
            <a:ext cx="1005840" cy="365760"/>
          </a:xfrm>
          <a:prstGeom prst="rect">
            <a:avLst/>
          </a:prstGeom>
          <a:noFill/>
        </p:spPr>
        <p:txBody>
          <a:bodyPr wrap="square" lIns="0" tIns="0" rIns="0" bIns="0" anchor="ctr">
            <a:spAutoFit/>
          </a:bodyPr>
          <a:lstStyle/>
          <a:p>
            <a:r>
              <a:rPr sz="1100" b="1" i="0">
                <a:solidFill>
                  <a:srgbClr val="6F7399"/>
                </a:solidFill>
                <a:latin typeface="Calibri"/>
              </a:rPr>
              <a:t>Tier</a:t>
            </a:r>
          </a:p>
        </p:txBody>
      </p:sp>
      <p:sp>
        <p:nvSpPr>
          <p:cNvPr id="33" name="TextBox 32"/>
          <p:cNvSpPr txBox="1"/>
          <p:nvPr/>
        </p:nvSpPr>
        <p:spPr>
          <a:xfrm>
            <a:off x="1691640" y="2889503"/>
            <a:ext cx="2606040" cy="365760"/>
          </a:xfrm>
          <a:prstGeom prst="rect">
            <a:avLst/>
          </a:prstGeom>
          <a:noFill/>
        </p:spPr>
        <p:txBody>
          <a:bodyPr wrap="square" lIns="0" tIns="0" rIns="0" bIns="0" anchor="ctr">
            <a:spAutoFit/>
          </a:bodyPr>
          <a:lstStyle/>
          <a:p>
            <a:r>
              <a:rPr sz="1200" b="1" i="0">
                <a:solidFill>
                  <a:srgbClr val="2E1B5B"/>
                </a:solidFill>
                <a:latin typeface="Calibri"/>
              </a:rPr>
              <a:t>Both</a:t>
            </a:r>
          </a:p>
        </p:txBody>
      </p:sp>
      <p:sp>
        <p:nvSpPr>
          <p:cNvPr id="34" name="TextBox 33"/>
          <p:cNvSpPr txBox="1"/>
          <p:nvPr/>
        </p:nvSpPr>
        <p:spPr>
          <a:xfrm>
            <a:off x="685800" y="3291839"/>
            <a:ext cx="1005840" cy="365760"/>
          </a:xfrm>
          <a:prstGeom prst="rect">
            <a:avLst/>
          </a:prstGeom>
          <a:noFill/>
        </p:spPr>
        <p:txBody>
          <a:bodyPr wrap="square" lIns="0" tIns="0" rIns="0" bIns="0" anchor="ctr">
            <a:spAutoFit/>
          </a:bodyPr>
          <a:lstStyle/>
          <a:p>
            <a:r>
              <a:rPr sz="1100" b="1" i="0">
                <a:solidFill>
                  <a:srgbClr val="6F7399"/>
                </a:solidFill>
                <a:latin typeface="Calibri"/>
              </a:rPr>
              <a:t>Repository</a:t>
            </a:r>
          </a:p>
        </p:txBody>
      </p:sp>
      <p:sp>
        <p:nvSpPr>
          <p:cNvPr id="35" name="TextBox 34"/>
          <p:cNvSpPr txBox="1"/>
          <p:nvPr/>
        </p:nvSpPr>
        <p:spPr>
          <a:xfrm>
            <a:off x="1691640" y="3291839"/>
            <a:ext cx="2606040" cy="365760"/>
          </a:xfrm>
          <a:prstGeom prst="rect">
            <a:avLst/>
          </a:prstGeom>
          <a:noFill/>
        </p:spPr>
        <p:txBody>
          <a:bodyPr wrap="square" lIns="0" tIns="0" rIns="0" bIns="0" anchor="ctr">
            <a:spAutoFit/>
          </a:bodyPr>
          <a:lstStyle/>
          <a:p>
            <a:r>
              <a:rPr sz="1200" b="1" i="0">
                <a:solidFill>
                  <a:srgbClr val="2E1B5B"/>
                </a:solidFill>
                <a:latin typeface="Calibri"/>
              </a:rPr>
              <a:t>vtu-hc-qubits-infernova</a:t>
            </a:r>
          </a:p>
        </p:txBody>
      </p:sp>
      <p:sp>
        <p:nvSpPr>
          <p:cNvPr id="36" name="TextBox 35"/>
          <p:cNvSpPr txBox="1"/>
          <p:nvPr/>
        </p:nvSpPr>
        <p:spPr>
          <a:xfrm>
            <a:off x="685800" y="3694176"/>
            <a:ext cx="1005840" cy="365760"/>
          </a:xfrm>
          <a:prstGeom prst="rect">
            <a:avLst/>
          </a:prstGeom>
          <a:noFill/>
        </p:spPr>
        <p:txBody>
          <a:bodyPr wrap="square" lIns="0" tIns="0" rIns="0" bIns="0" anchor="ctr">
            <a:spAutoFit/>
          </a:bodyPr>
          <a:lstStyle/>
          <a:p>
            <a:r>
              <a:rPr sz="1100" b="1" i="0">
                <a:solidFill>
                  <a:srgbClr val="6F7399"/>
                </a:solidFill>
                <a:latin typeface="Calibri"/>
              </a:rPr>
              <a:t>Organisation</a:t>
            </a:r>
          </a:p>
        </p:txBody>
      </p:sp>
      <p:sp>
        <p:nvSpPr>
          <p:cNvPr id="37" name="TextBox 36"/>
          <p:cNvSpPr txBox="1"/>
          <p:nvPr/>
        </p:nvSpPr>
        <p:spPr>
          <a:xfrm>
            <a:off x="1691640" y="3694176"/>
            <a:ext cx="2606040" cy="365760"/>
          </a:xfrm>
          <a:prstGeom prst="rect">
            <a:avLst/>
          </a:prstGeom>
          <a:noFill/>
        </p:spPr>
        <p:txBody>
          <a:bodyPr wrap="square" lIns="0" tIns="0" rIns="0" bIns="0" anchor="ctr">
            <a:spAutoFit/>
          </a:bodyPr>
          <a:lstStyle/>
          <a:p>
            <a:r>
              <a:rPr sz="1200" b="1" i="0">
                <a:solidFill>
                  <a:srgbClr val="2E1B5B"/>
                </a:solidFill>
                <a:latin typeface="Calibri"/>
              </a:rPr>
              <a:t>vtu-qiskit-fall-fest-2026</a:t>
            </a:r>
          </a:p>
        </p:txBody>
      </p:sp>
      <p:sp>
        <p:nvSpPr>
          <p:cNvPr id="38" name="TextBox 37"/>
          <p:cNvSpPr txBox="1"/>
          <p:nvPr/>
        </p:nvSpPr>
        <p:spPr>
          <a:xfrm>
            <a:off x="685800" y="4096512"/>
            <a:ext cx="1005840" cy="365760"/>
          </a:xfrm>
          <a:prstGeom prst="rect">
            <a:avLst/>
          </a:prstGeom>
          <a:noFill/>
        </p:spPr>
        <p:txBody>
          <a:bodyPr wrap="square" lIns="0" tIns="0" rIns="0" bIns="0" anchor="ctr">
            <a:spAutoFit/>
          </a:bodyPr>
          <a:lstStyle/>
          <a:p>
            <a:r>
              <a:rPr sz="1100" b="1" i="0">
                <a:solidFill>
                  <a:srgbClr val="6F7399"/>
                </a:solidFill>
                <a:latin typeface="Calibri"/>
              </a:rPr>
              <a:t>Event</a:t>
            </a:r>
          </a:p>
        </p:txBody>
      </p:sp>
      <p:sp>
        <p:nvSpPr>
          <p:cNvPr id="39" name="TextBox 38"/>
          <p:cNvSpPr txBox="1"/>
          <p:nvPr/>
        </p:nvSpPr>
        <p:spPr>
          <a:xfrm>
            <a:off x="1691640" y="4096512"/>
            <a:ext cx="2606040" cy="365760"/>
          </a:xfrm>
          <a:prstGeom prst="rect">
            <a:avLst/>
          </a:prstGeom>
          <a:noFill/>
        </p:spPr>
        <p:txBody>
          <a:bodyPr wrap="square" lIns="0" tIns="0" rIns="0" bIns="0" anchor="ctr">
            <a:spAutoFit/>
          </a:bodyPr>
          <a:lstStyle/>
          <a:p>
            <a:r>
              <a:rPr sz="1200" b="1" i="0">
                <a:solidFill>
                  <a:srgbClr val="2E1B5B"/>
                </a:solidFill>
                <a:latin typeface="Calibri"/>
              </a:rPr>
              <a:t>VTU-QFF Hackathon — VTU-Qiskit Fall Fest 2026</a:t>
            </a:r>
          </a:p>
        </p:txBody>
      </p:sp>
      <p:sp>
        <p:nvSpPr>
          <p:cNvPr id="40" name="Rounded Rectangle 39"/>
          <p:cNvSpPr/>
          <p:nvPr/>
        </p:nvSpPr>
        <p:spPr>
          <a:xfrm>
            <a:off x="4572000" y="1691640"/>
            <a:ext cx="4114800" cy="896112"/>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54880" y="1929384"/>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1</a:t>
            </a:r>
          </a:p>
        </p:txBody>
      </p:sp>
      <p:sp>
        <p:nvSpPr>
          <p:cNvPr id="42" name="TextBox 41"/>
          <p:cNvSpPr txBox="1"/>
          <p:nvPr/>
        </p:nvSpPr>
        <p:spPr>
          <a:xfrm>
            <a:off x="5394960" y="1691640"/>
            <a:ext cx="3200400" cy="896112"/>
          </a:xfrm>
          <a:prstGeom prst="rect">
            <a:avLst/>
          </a:prstGeom>
          <a:noFill/>
        </p:spPr>
        <p:txBody>
          <a:bodyPr wrap="square" lIns="0" tIns="0" rIns="0" bIns="0" anchor="ctr">
            <a:spAutoFit/>
          </a:bodyPr>
          <a:lstStyle/>
          <a:p>
            <a:pPr>
              <a:spcAft>
                <a:spcPts val="100"/>
              </a:spcAft>
            </a:pPr>
            <a:r>
              <a:rPr sz="1400" b="1" i="0">
                <a:solidFill>
                  <a:srgbClr val="2E1B5B"/>
                </a:solidFill>
                <a:latin typeface="Calibri"/>
              </a:rPr>
              <a:t>Harshavardhaan S</a:t>
            </a:r>
          </a:p>
          <a:p>
            <a:pPr>
              <a:spcAft>
                <a:spcPts val="100"/>
              </a:spcAft>
            </a:pPr>
            <a:r>
              <a:rPr sz="1200" b="1" i="0">
                <a:solidFill>
                  <a:srgbClr val="5B3BA8"/>
                </a:solidFill>
                <a:latin typeface="Calibri"/>
              </a:rPr>
              <a:t>Team Lead</a:t>
            </a:r>
          </a:p>
          <a:p>
            <a:r>
              <a:rPr sz="1100" b="0" i="0">
                <a:solidFill>
                  <a:srgbClr val="6F7399"/>
                </a:solidFill>
                <a:latin typeface="Calibri"/>
              </a:rPr>
              <a:t>GitHub: sharshavardhaan05-rgb</a:t>
            </a:r>
          </a:p>
        </p:txBody>
      </p:sp>
      <p:sp>
        <p:nvSpPr>
          <p:cNvPr id="43" name="Rounded Rectangle 42"/>
          <p:cNvSpPr/>
          <p:nvPr/>
        </p:nvSpPr>
        <p:spPr>
          <a:xfrm>
            <a:off x="4572000" y="2706624"/>
            <a:ext cx="4114800" cy="896112"/>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54880" y="294436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2</a:t>
            </a:r>
          </a:p>
        </p:txBody>
      </p:sp>
      <p:sp>
        <p:nvSpPr>
          <p:cNvPr id="45" name="TextBox 44"/>
          <p:cNvSpPr txBox="1"/>
          <p:nvPr/>
        </p:nvSpPr>
        <p:spPr>
          <a:xfrm>
            <a:off x="5394960" y="2706624"/>
            <a:ext cx="3200400" cy="896112"/>
          </a:xfrm>
          <a:prstGeom prst="rect">
            <a:avLst/>
          </a:prstGeom>
          <a:noFill/>
        </p:spPr>
        <p:txBody>
          <a:bodyPr wrap="square" lIns="0" tIns="0" rIns="0" bIns="0" anchor="ctr">
            <a:spAutoFit/>
          </a:bodyPr>
          <a:lstStyle/>
          <a:p>
            <a:pPr>
              <a:spcAft>
                <a:spcPts val="100"/>
              </a:spcAft>
            </a:pPr>
            <a:r>
              <a:rPr sz="1400" b="1" i="0">
                <a:solidFill>
                  <a:srgbClr val="2E1B5B"/>
                </a:solidFill>
                <a:latin typeface="Calibri"/>
              </a:rPr>
              <a:t>Garima Mishra V</a:t>
            </a:r>
          </a:p>
          <a:p>
            <a:pPr>
              <a:spcAft>
                <a:spcPts val="100"/>
              </a:spcAft>
            </a:pPr>
            <a:r>
              <a:rPr sz="1200" b="1" i="0">
                <a:solidFill>
                  <a:srgbClr val="5B3BA8"/>
                </a:solidFill>
                <a:latin typeface="Calibri"/>
              </a:rPr>
              <a:t>Developer (Quantum core)</a:t>
            </a:r>
          </a:p>
          <a:p>
            <a:r>
              <a:rPr sz="1100" b="0" i="0">
                <a:solidFill>
                  <a:srgbClr val="6F7399"/>
                </a:solidFill>
                <a:latin typeface="Calibri"/>
              </a:rPr>
              <a:t>GitHub: garimamishrav2007-cmd</a:t>
            </a:r>
          </a:p>
        </p:txBody>
      </p:sp>
      <p:sp>
        <p:nvSpPr>
          <p:cNvPr id="46" name="Rounded Rectangle 45"/>
          <p:cNvSpPr/>
          <p:nvPr/>
        </p:nvSpPr>
        <p:spPr>
          <a:xfrm>
            <a:off x="4572000" y="3721608"/>
            <a:ext cx="4114800" cy="896112"/>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754880" y="3959352"/>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3</a:t>
            </a:r>
          </a:p>
        </p:txBody>
      </p:sp>
      <p:sp>
        <p:nvSpPr>
          <p:cNvPr id="48" name="TextBox 47"/>
          <p:cNvSpPr txBox="1"/>
          <p:nvPr/>
        </p:nvSpPr>
        <p:spPr>
          <a:xfrm>
            <a:off x="5394960" y="3721608"/>
            <a:ext cx="3200400" cy="896112"/>
          </a:xfrm>
          <a:prstGeom prst="rect">
            <a:avLst/>
          </a:prstGeom>
          <a:noFill/>
        </p:spPr>
        <p:txBody>
          <a:bodyPr wrap="square" lIns="0" tIns="0" rIns="0" bIns="0" anchor="ctr">
            <a:spAutoFit/>
          </a:bodyPr>
          <a:lstStyle/>
          <a:p>
            <a:pPr>
              <a:spcAft>
                <a:spcPts val="100"/>
              </a:spcAft>
            </a:pPr>
            <a:r>
              <a:rPr sz="1400" b="1" i="0">
                <a:solidFill>
                  <a:srgbClr val="2E1B5B"/>
                </a:solidFill>
                <a:latin typeface="Calibri"/>
              </a:rPr>
              <a:t>Ameerkhan S</a:t>
            </a:r>
          </a:p>
          <a:p>
            <a:pPr>
              <a:spcAft>
                <a:spcPts val="100"/>
              </a:spcAft>
            </a:pPr>
            <a:r>
              <a:rPr sz="1200" b="1" i="0">
                <a:solidFill>
                  <a:srgbClr val="5B3BA8"/>
                </a:solidFill>
                <a:latin typeface="Calibri"/>
              </a:rPr>
              <a:t>Developer (App and UI)</a:t>
            </a:r>
          </a:p>
          <a:p>
            <a:r>
              <a:rPr sz="1100" b="0" i="0">
                <a:solidFill>
                  <a:srgbClr val="6F7399"/>
                </a:solidFill>
                <a:latin typeface="Calibri"/>
              </a:rPr>
              <a:t>GitHub: ameerkhan2732-cpu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Why It Matters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1874520"/>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1</a:t>
            </a:r>
          </a:p>
        </p:txBody>
      </p:sp>
      <p:sp>
        <p:nvSpPr>
          <p:cNvPr id="28" name="TextBox 27"/>
          <p:cNvSpPr txBox="1"/>
          <p:nvPr/>
        </p:nvSpPr>
        <p:spPr>
          <a:xfrm>
            <a:off x="1170432" y="1828800"/>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Secrets must last for decades</a:t>
            </a:r>
          </a:p>
          <a:p>
            <a:r>
              <a:rPr sz="1200" b="0" i="0">
                <a:solidFill>
                  <a:srgbClr val="3B3470"/>
                </a:solidFill>
                <a:latin typeface="Calibri"/>
              </a:rPr>
              <a:t>Sensitive messages often need to stay secret for decades, and a message cracked later cannot be protected again.</a:t>
            </a:r>
          </a:p>
        </p:txBody>
      </p:sp>
      <p:sp>
        <p:nvSpPr>
          <p:cNvPr id="29" name="Rounded Rectangle 28"/>
          <p:cNvSpPr/>
          <p:nvPr/>
        </p:nvSpPr>
        <p:spPr>
          <a:xfrm>
            <a:off x="4663440" y="169164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46320" y="1874520"/>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2</a:t>
            </a:r>
          </a:p>
        </p:txBody>
      </p:sp>
      <p:sp>
        <p:nvSpPr>
          <p:cNvPr id="31" name="TextBox 30"/>
          <p:cNvSpPr txBox="1"/>
          <p:nvPr/>
        </p:nvSpPr>
        <p:spPr>
          <a:xfrm>
            <a:off x="5376672" y="1828800"/>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Trusted blindly or wrongly abandoned</a:t>
            </a:r>
          </a:p>
          <a:p>
            <a:r>
              <a:rPr sz="1200" b="0" i="0">
                <a:solidFill>
                  <a:srgbClr val="3B3470"/>
                </a:solidFill>
                <a:latin typeface="Calibri"/>
              </a:rPr>
              <a:t>Without a way to separate noise from interception, QKD links are either blindly trusted or wrongly abandoned.</a:t>
            </a:r>
          </a:p>
        </p:txBody>
      </p:sp>
      <p:sp>
        <p:nvSpPr>
          <p:cNvPr id="32" name="Rounded Rectangle 31"/>
          <p:cNvSpPr/>
          <p:nvPr/>
        </p:nvSpPr>
        <p:spPr>
          <a:xfrm>
            <a:off x="457200" y="324612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 y="3429000"/>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3</a:t>
            </a:r>
          </a:p>
        </p:txBody>
      </p:sp>
      <p:sp>
        <p:nvSpPr>
          <p:cNvPr id="34" name="TextBox 33"/>
          <p:cNvSpPr txBox="1"/>
          <p:nvPr/>
        </p:nvSpPr>
        <p:spPr>
          <a:xfrm>
            <a:off x="1170432" y="3383279"/>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Judge a channel before investing</a:t>
            </a:r>
          </a:p>
          <a:p>
            <a:r>
              <a:rPr sz="1200" b="0" i="0">
                <a:solidFill>
                  <a:srgbClr val="3B3470"/>
                </a:solidFill>
                <a:latin typeface="Calibri"/>
              </a:rPr>
              <a:t>A clear, automatic verdict on link safety lets teams judge a channel before investing in QKD hardware.</a:t>
            </a:r>
          </a:p>
        </p:txBody>
      </p:sp>
      <p:sp>
        <p:nvSpPr>
          <p:cNvPr id="35" name="Rounded Rectangle 34"/>
          <p:cNvSpPr/>
          <p:nvPr/>
        </p:nvSpPr>
        <p:spPr>
          <a:xfrm>
            <a:off x="4663440" y="324612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46320" y="3429000"/>
            <a:ext cx="384048" cy="38404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4</a:t>
            </a:r>
          </a:p>
        </p:txBody>
      </p:sp>
      <p:sp>
        <p:nvSpPr>
          <p:cNvPr id="37" name="TextBox 36"/>
          <p:cNvSpPr txBox="1"/>
          <p:nvPr/>
        </p:nvSpPr>
        <p:spPr>
          <a:xfrm>
            <a:off x="5376672" y="3383279"/>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Hands-on understanding</a:t>
            </a:r>
          </a:p>
          <a:p>
            <a:r>
              <a:rPr sz="1200" b="0" i="0">
                <a:solidFill>
                  <a:srgbClr val="3B3470"/>
                </a:solidFill>
                <a:latin typeface="Calibri"/>
              </a:rPr>
              <a:t>It gives defence and security teams a hands-on way to see how noise and attacks affect key security.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Why This Works (1 of 2)</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82296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193852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1</a:t>
            </a:r>
          </a:p>
        </p:txBody>
      </p:sp>
      <p:sp>
        <p:nvSpPr>
          <p:cNvPr id="28" name="TextBox 27"/>
          <p:cNvSpPr txBox="1"/>
          <p:nvPr/>
        </p:nvSpPr>
        <p:spPr>
          <a:xfrm>
            <a:off x="1234440" y="1691640"/>
            <a:ext cx="726948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Physics-based keys</a:t>
            </a:r>
          </a:p>
          <a:p>
            <a:r>
              <a:rPr sz="1200" b="0" i="0">
                <a:solidFill>
                  <a:srgbClr val="3B3470"/>
                </a:solidFill>
                <a:latin typeface="Calibri"/>
              </a:rPr>
              <a:t>Keys come from BB84, whose security rests on quantum physics rather than on encryption math that future computers may break.</a:t>
            </a:r>
          </a:p>
        </p:txBody>
      </p:sp>
      <p:sp>
        <p:nvSpPr>
          <p:cNvPr id="29" name="Rounded Rectangle 28"/>
          <p:cNvSpPr/>
          <p:nvPr/>
        </p:nvSpPr>
        <p:spPr>
          <a:xfrm>
            <a:off x="457200" y="2697480"/>
            <a:ext cx="82296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080" y="294436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2</a:t>
            </a:r>
          </a:p>
        </p:txBody>
      </p:sp>
      <p:sp>
        <p:nvSpPr>
          <p:cNvPr id="31" name="TextBox 30"/>
          <p:cNvSpPr txBox="1"/>
          <p:nvPr/>
        </p:nvSpPr>
        <p:spPr>
          <a:xfrm>
            <a:off x="1234440" y="2697480"/>
            <a:ext cx="726948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Sift, sample and measure QBER</a:t>
            </a:r>
          </a:p>
          <a:p>
            <a:r>
              <a:rPr sz="1200" b="0" i="0">
                <a:solidFill>
                  <a:srgbClr val="3B3470"/>
                </a:solidFill>
                <a:latin typeface="Calibri"/>
              </a:rPr>
              <a:t>Alice and Bob sift on matching bases and sample part of the key to measure the quantum bit error rate (QBER). An intercept-resend attack drives QBER to about 25%, well above the ~11% BB84 safety limit.</a:t>
            </a:r>
          </a:p>
        </p:txBody>
      </p:sp>
      <p:sp>
        <p:nvSpPr>
          <p:cNvPr id="32" name="Rounded Rectangle 31"/>
          <p:cNvSpPr/>
          <p:nvPr/>
        </p:nvSpPr>
        <p:spPr>
          <a:xfrm>
            <a:off x="457200" y="3703320"/>
            <a:ext cx="82296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 y="395020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3</a:t>
            </a:r>
          </a:p>
        </p:txBody>
      </p:sp>
      <p:sp>
        <p:nvSpPr>
          <p:cNvPr id="34" name="TextBox 33"/>
          <p:cNvSpPr txBox="1"/>
          <p:nvPr/>
        </p:nvSpPr>
        <p:spPr>
          <a:xfrm>
            <a:off x="1234440" y="3703320"/>
            <a:ext cx="726948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Noise and attack look different</a:t>
            </a:r>
          </a:p>
          <a:p>
            <a:r>
              <a:rPr sz="1200" b="0" i="0">
                <a:solidFill>
                  <a:srgbClr val="3B3470"/>
                </a:solidFill>
                <a:latin typeface="Calibri"/>
              </a:rPr>
              <a:t>A noise model fitted to simulated sweeps shows how ordinary noise differs from an attack in the measured results, and a batch is validated on real IBM hardware.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Why This Works (2 of 2)</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82296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193852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4</a:t>
            </a:r>
          </a:p>
        </p:txBody>
      </p:sp>
      <p:sp>
        <p:nvSpPr>
          <p:cNvPr id="28" name="TextBox 27"/>
          <p:cNvSpPr txBox="1"/>
          <p:nvPr/>
        </p:nvSpPr>
        <p:spPr>
          <a:xfrm>
            <a:off x="1234440" y="1691640"/>
            <a:ext cx="726948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A clear verdict</a:t>
            </a:r>
          </a:p>
          <a:p>
            <a:r>
              <a:rPr sz="1200" b="0" i="0">
                <a:solidFill>
                  <a:srgbClr val="3B3470"/>
                </a:solidFill>
                <a:latin typeface="Calibri"/>
              </a:rPr>
              <a:t>The Channel Trust Meter compares observed QBER with the QBER expected from the known noise profile and returns a clear verdict.</a:t>
            </a:r>
          </a:p>
        </p:txBody>
      </p:sp>
      <p:sp>
        <p:nvSpPr>
          <p:cNvPr id="29" name="Rounded Rectangle 28"/>
          <p:cNvSpPr/>
          <p:nvPr/>
        </p:nvSpPr>
        <p:spPr>
          <a:xfrm>
            <a:off x="457200" y="2697480"/>
            <a:ext cx="82296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080" y="294436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5</a:t>
            </a:r>
          </a:p>
        </p:txBody>
      </p:sp>
      <p:sp>
        <p:nvSpPr>
          <p:cNvPr id="31" name="TextBox 30"/>
          <p:cNvSpPr txBox="1"/>
          <p:nvPr/>
        </p:nvSpPr>
        <p:spPr>
          <a:xfrm>
            <a:off x="1234440" y="2697480"/>
            <a:ext cx="726948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Shorten the key or block</a:t>
            </a:r>
          </a:p>
          <a:p>
            <a:r>
              <a:rPr sz="1200" b="0" i="0">
                <a:solidFill>
                  <a:srgbClr val="3B3470"/>
                </a:solidFill>
                <a:latin typeface="Calibri"/>
              </a:rPr>
              <a:t>In the usable range, error correction and privacy amplification shorten the key to a secure length. Above the threshold, the key is discarded and messaging is blocked.</a:t>
            </a:r>
          </a:p>
        </p:txBody>
      </p:sp>
      <p:sp>
        <p:nvSpPr>
          <p:cNvPr id="32" name="Rounded Rectangle 31"/>
          <p:cNvSpPr/>
          <p:nvPr/>
        </p:nvSpPr>
        <p:spPr>
          <a:xfrm>
            <a:off x="457200" y="3703320"/>
            <a:ext cx="82296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 y="395020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6</a:t>
            </a:r>
          </a:p>
        </p:txBody>
      </p:sp>
      <p:sp>
        <p:nvSpPr>
          <p:cNvPr id="34" name="TextBox 33"/>
          <p:cNvSpPr txBox="1"/>
          <p:nvPr/>
        </p:nvSpPr>
        <p:spPr>
          <a:xfrm>
            <a:off x="1234440" y="3703320"/>
            <a:ext cx="726948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A live, encrypted chat</a:t>
            </a:r>
          </a:p>
          <a:p>
            <a:r>
              <a:rPr sz="1200" b="0" i="0">
                <a:solidFill>
                  <a:srgbClr val="3B3470"/>
                </a:solidFill>
                <a:latin typeface="Calibri"/>
              </a:rPr>
              <a:t>The final key encrypts messages in a working Streamlit chat, so the full path from quantum key exchange to protected communication can be shown live.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Approach &amp; Architecture (1 of 2)</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8229600" cy="896112"/>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66928" y="1801368"/>
            <a:ext cx="1600200" cy="676656"/>
          </a:xfrm>
          <a:prstGeom prst="roundRect">
            <a:avLst>
              <a:gd name="adj" fmla="val 12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800" b="1" i="0">
                <a:solidFill>
                  <a:srgbClr val="E8639F"/>
                </a:solidFill>
                <a:latin typeface="Calibri"/>
              </a:rPr>
              <a:t>1</a:t>
            </a:r>
          </a:p>
          <a:p>
            <a:pPr algn="ctr"/>
            <a:r>
              <a:rPr sz="1300" b="1" i="0">
                <a:solidFill>
                  <a:srgbClr val="FFFFFF"/>
                </a:solidFill>
                <a:latin typeface="Calibri"/>
              </a:rPr>
              <a:t>Input</a:t>
            </a:r>
          </a:p>
        </p:txBody>
      </p:sp>
      <p:sp>
        <p:nvSpPr>
          <p:cNvPr id="28" name="TextBox 27"/>
          <p:cNvSpPr txBox="1"/>
          <p:nvPr/>
        </p:nvSpPr>
        <p:spPr>
          <a:xfrm>
            <a:off x="2331720" y="1691640"/>
            <a:ext cx="6172200" cy="896112"/>
          </a:xfrm>
          <a:prstGeom prst="rect">
            <a:avLst/>
          </a:prstGeom>
          <a:noFill/>
        </p:spPr>
        <p:txBody>
          <a:bodyPr wrap="square" lIns="0" tIns="0" rIns="0" bIns="0" anchor="ctr">
            <a:spAutoFit/>
          </a:bodyPr>
          <a:lstStyle/>
          <a:p>
            <a:r>
              <a:rPr sz="1200" b="0" i="0">
                <a:solidFill>
                  <a:srgbClr val="3B3470"/>
                </a:solidFill>
                <a:latin typeface="Calibri"/>
              </a:rPr>
              <a:t>Random bits and random measurement bases (Z or X) generated for Alice and Bob; a noise level and an optional eavesdropper setting chosen in the app.</a:t>
            </a:r>
          </a:p>
        </p:txBody>
      </p:sp>
      <p:sp>
        <p:nvSpPr>
          <p:cNvPr id="29" name="Rounded Rectangle 28"/>
          <p:cNvSpPr/>
          <p:nvPr/>
        </p:nvSpPr>
        <p:spPr>
          <a:xfrm>
            <a:off x="457200" y="2706624"/>
            <a:ext cx="8229600" cy="896112"/>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66928" y="2816352"/>
            <a:ext cx="1600200" cy="676656"/>
          </a:xfrm>
          <a:prstGeom prst="roundRect">
            <a:avLst>
              <a:gd name="adj" fmla="val 12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800" b="1" i="0">
                <a:solidFill>
                  <a:srgbClr val="E8639F"/>
                </a:solidFill>
                <a:latin typeface="Calibri"/>
              </a:rPr>
              <a:t>2</a:t>
            </a:r>
          </a:p>
          <a:p>
            <a:pPr algn="ctr"/>
            <a:r>
              <a:rPr sz="1300" b="1" i="0">
                <a:solidFill>
                  <a:srgbClr val="FFFFFF"/>
                </a:solidFill>
                <a:latin typeface="Calibri"/>
              </a:rPr>
              <a:t>Preprocessing</a:t>
            </a:r>
          </a:p>
        </p:txBody>
      </p:sp>
      <p:sp>
        <p:nvSpPr>
          <p:cNvPr id="31" name="TextBox 30"/>
          <p:cNvSpPr txBox="1"/>
          <p:nvPr/>
        </p:nvSpPr>
        <p:spPr>
          <a:xfrm>
            <a:off x="2331720" y="2706624"/>
            <a:ext cx="6172200" cy="896112"/>
          </a:xfrm>
          <a:prstGeom prst="rect">
            <a:avLst/>
          </a:prstGeom>
          <a:noFill/>
        </p:spPr>
        <p:txBody>
          <a:bodyPr wrap="square" lIns="0" tIns="0" rIns="0" bIns="0" anchor="ctr">
            <a:spAutoFit/>
          </a:bodyPr>
          <a:lstStyle/>
          <a:p>
            <a:r>
              <a:rPr sz="1200" b="0" i="0">
                <a:solidFill>
                  <a:srgbClr val="3B3470"/>
                </a:solidFill>
                <a:latin typeface="Calibri"/>
              </a:rPr>
              <a:t>Bits are encoded into qubits (X for bit 1, H for the X basis); many rounds are packed into multi-qubit circuits with fresh randomness for every batch.</a:t>
            </a:r>
          </a:p>
        </p:txBody>
      </p:sp>
      <p:sp>
        <p:nvSpPr>
          <p:cNvPr id="32" name="Rounded Rectangle 31"/>
          <p:cNvSpPr/>
          <p:nvPr/>
        </p:nvSpPr>
        <p:spPr>
          <a:xfrm>
            <a:off x="457200" y="3721608"/>
            <a:ext cx="8229600" cy="896112"/>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66928" y="3831336"/>
            <a:ext cx="1600200" cy="676656"/>
          </a:xfrm>
          <a:prstGeom prst="roundRect">
            <a:avLst>
              <a:gd name="adj" fmla="val 12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800" b="1" i="0">
                <a:solidFill>
                  <a:srgbClr val="E8639F"/>
                </a:solidFill>
                <a:latin typeface="Calibri"/>
              </a:rPr>
              <a:t>3</a:t>
            </a:r>
          </a:p>
          <a:p>
            <a:pPr algn="ctr"/>
            <a:r>
              <a:rPr sz="1300" b="1" i="0">
                <a:solidFill>
                  <a:srgbClr val="FFFFFF"/>
                </a:solidFill>
                <a:latin typeface="Calibri"/>
              </a:rPr>
              <a:t>Quantum core</a:t>
            </a:r>
          </a:p>
        </p:txBody>
      </p:sp>
      <p:sp>
        <p:nvSpPr>
          <p:cNvPr id="34" name="TextBox 33"/>
          <p:cNvSpPr txBox="1"/>
          <p:nvPr/>
        </p:nvSpPr>
        <p:spPr>
          <a:xfrm>
            <a:off x="2331720" y="3721608"/>
            <a:ext cx="6172200" cy="896112"/>
          </a:xfrm>
          <a:prstGeom prst="rect">
            <a:avLst/>
          </a:prstGeom>
          <a:noFill/>
        </p:spPr>
        <p:txBody>
          <a:bodyPr wrap="square" lIns="0" tIns="0" rIns="0" bIns="0" anchor="ctr">
            <a:spAutoFit/>
          </a:bodyPr>
          <a:lstStyle/>
          <a:p>
            <a:r>
              <a:rPr sz="1200" b="0" i="0">
                <a:solidFill>
                  <a:srgbClr val="3B3470"/>
                </a:solidFill>
                <a:latin typeface="Calibri"/>
              </a:rPr>
              <a:t>BB84 circuits built in Qiskit and run on the Aer simulator with a classical bit-flip noise model, compared on an IBM fake backend (FakeSherbrooke), and validated on a real IBM backend. An intercept-resend attacker (Eve) can be inserted into the channel.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Approach &amp; Architecture (2 of 2)</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8229600" cy="82296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66928" y="1801368"/>
            <a:ext cx="1600200" cy="603504"/>
          </a:xfrm>
          <a:prstGeom prst="roundRect">
            <a:avLst>
              <a:gd name="adj" fmla="val 12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800" b="1" i="0">
                <a:solidFill>
                  <a:srgbClr val="E8639F"/>
                </a:solidFill>
                <a:latin typeface="Calibri"/>
              </a:rPr>
              <a:t>4</a:t>
            </a:r>
          </a:p>
          <a:p>
            <a:pPr algn="ctr"/>
            <a:r>
              <a:rPr sz="1300" b="1" i="0">
                <a:solidFill>
                  <a:srgbClr val="FFFFFF"/>
                </a:solidFill>
                <a:latin typeface="Calibri"/>
              </a:rPr>
              <a:t>Post-processing</a:t>
            </a:r>
          </a:p>
        </p:txBody>
      </p:sp>
      <p:sp>
        <p:nvSpPr>
          <p:cNvPr id="28" name="TextBox 27"/>
          <p:cNvSpPr txBox="1"/>
          <p:nvPr/>
        </p:nvSpPr>
        <p:spPr>
          <a:xfrm>
            <a:off x="2331720" y="1691640"/>
            <a:ext cx="6172200" cy="822960"/>
          </a:xfrm>
          <a:prstGeom prst="rect">
            <a:avLst/>
          </a:prstGeom>
          <a:noFill/>
        </p:spPr>
        <p:txBody>
          <a:bodyPr wrap="square" lIns="0" tIns="0" rIns="0" bIns="0" anchor="ctr">
            <a:spAutoFit/>
          </a:bodyPr>
          <a:lstStyle/>
          <a:p>
            <a:r>
              <a:rPr sz="1200" b="0" i="0">
                <a:solidFill>
                  <a:srgbClr val="3B3470"/>
                </a:solidFill>
                <a:latin typeface="Calibri"/>
              </a:rPr>
              <a:t>Sifting on matching bases, QBER estimation from a sampled subset, Trust Meter classification, then error correction and privacy amplification to produce the final secure key.</a:t>
            </a:r>
          </a:p>
        </p:txBody>
      </p:sp>
      <p:sp>
        <p:nvSpPr>
          <p:cNvPr id="29" name="Rounded Rectangle 28"/>
          <p:cNvSpPr/>
          <p:nvPr/>
        </p:nvSpPr>
        <p:spPr>
          <a:xfrm>
            <a:off x="457200" y="2633472"/>
            <a:ext cx="8229600" cy="82296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66928" y="2743200"/>
            <a:ext cx="1600200" cy="603504"/>
          </a:xfrm>
          <a:prstGeom prst="roundRect">
            <a:avLst>
              <a:gd name="adj" fmla="val 12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800" b="1" i="0">
                <a:solidFill>
                  <a:srgbClr val="E8639F"/>
                </a:solidFill>
                <a:latin typeface="Calibri"/>
              </a:rPr>
              <a:t>5</a:t>
            </a:r>
          </a:p>
          <a:p>
            <a:pPr algn="ctr"/>
            <a:r>
              <a:rPr sz="1300" b="1" i="0">
                <a:solidFill>
                  <a:srgbClr val="FFFFFF"/>
                </a:solidFill>
                <a:latin typeface="Calibri"/>
              </a:rPr>
              <a:t>Output</a:t>
            </a:r>
          </a:p>
        </p:txBody>
      </p:sp>
      <p:sp>
        <p:nvSpPr>
          <p:cNvPr id="31" name="TextBox 30"/>
          <p:cNvSpPr txBox="1"/>
          <p:nvPr/>
        </p:nvSpPr>
        <p:spPr>
          <a:xfrm>
            <a:off x="2331720" y="2633472"/>
            <a:ext cx="6172200" cy="822960"/>
          </a:xfrm>
          <a:prstGeom prst="rect">
            <a:avLst/>
          </a:prstGeom>
          <a:noFill/>
        </p:spPr>
        <p:txBody>
          <a:bodyPr wrap="square" lIns="0" tIns="0" rIns="0" bIns="0" anchor="ctr">
            <a:spAutoFit/>
          </a:bodyPr>
          <a:lstStyle/>
          <a:p>
            <a:r>
              <a:rPr sz="1200" b="0" i="0">
                <a:solidFill>
                  <a:srgbClr val="3B3470"/>
                </a:solidFill>
                <a:latin typeface="Calibri"/>
              </a:rPr>
              <a:t>A derived AES key that encrypts chat messages (AES-GCM), plus a live dashboard showing QBER, the Trust Meter verdict, key length, and whether the chat is open or blocked.</a:t>
            </a:r>
          </a:p>
        </p:txBody>
      </p:sp>
      <p:sp>
        <p:nvSpPr>
          <p:cNvPr id="32" name="TextBox 31"/>
          <p:cNvSpPr txBox="1"/>
          <p:nvPr/>
        </p:nvSpPr>
        <p:spPr>
          <a:xfrm>
            <a:off x="457200" y="3593592"/>
            <a:ext cx="5486400" cy="182880"/>
          </a:xfrm>
          <a:prstGeom prst="rect">
            <a:avLst/>
          </a:prstGeom>
          <a:noFill/>
        </p:spPr>
        <p:txBody>
          <a:bodyPr wrap="square" lIns="0" tIns="0" rIns="0" bIns="0" anchor="t">
            <a:spAutoFit/>
          </a:bodyPr>
          <a:lstStyle/>
          <a:p>
            <a:r>
              <a:rPr sz="950" b="1" i="0" spc="100">
                <a:solidFill>
                  <a:srgbClr val="5B3BA8"/>
                </a:solidFill>
                <a:latin typeface="Calibri"/>
              </a:rPr>
              <a:t>CHANNEL TRUST METER VERDICTS</a:t>
            </a:r>
          </a:p>
        </p:txBody>
      </p:sp>
      <p:sp>
        <p:nvSpPr>
          <p:cNvPr id="33" name="Rounded Rectangle 32"/>
          <p:cNvSpPr/>
          <p:nvPr/>
        </p:nvSpPr>
        <p:spPr>
          <a:xfrm>
            <a:off x="457200" y="3822191"/>
            <a:ext cx="2651760" cy="795528"/>
          </a:xfrm>
          <a:prstGeom prst="roundRect">
            <a:avLst>
              <a:gd name="adj" fmla="val 12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Aft>
                <a:spcPts val="100"/>
              </a:spcAft>
            </a:pPr>
            <a:r>
              <a:rPr sz="1400" b="1" i="0">
                <a:solidFill>
                  <a:srgbClr val="FFFFFF"/>
                </a:solidFill>
                <a:latin typeface="Calibri"/>
              </a:rPr>
              <a:t>Safe</a:t>
            </a:r>
          </a:p>
          <a:p>
            <a:pPr algn="ctr"/>
            <a:r>
              <a:rPr sz="1150" b="0" i="0">
                <a:solidFill>
                  <a:srgbClr val="FFFFFF"/>
                </a:solidFill>
                <a:latin typeface="Calibri"/>
              </a:rPr>
              <a:t>Chat stays open</a:t>
            </a:r>
          </a:p>
        </p:txBody>
      </p:sp>
      <p:sp>
        <p:nvSpPr>
          <p:cNvPr id="34" name="Rounded Rectangle 33"/>
          <p:cNvSpPr/>
          <p:nvPr/>
        </p:nvSpPr>
        <p:spPr>
          <a:xfrm>
            <a:off x="3246120" y="3822191"/>
            <a:ext cx="2651760" cy="795528"/>
          </a:xfrm>
          <a:prstGeom prst="roundRect">
            <a:avLst>
              <a:gd name="adj" fmla="val 12000"/>
            </a:avLst>
          </a:prstGeom>
          <a:solidFill>
            <a:srgbClr val="F0B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Aft>
                <a:spcPts val="100"/>
              </a:spcAft>
            </a:pPr>
            <a:r>
              <a:rPr sz="1400" b="1" i="0">
                <a:solidFill>
                  <a:srgbClr val="2E1B5B"/>
                </a:solidFill>
                <a:latin typeface="Calibri"/>
              </a:rPr>
              <a:t>Noisy but usable</a:t>
            </a:r>
          </a:p>
          <a:p>
            <a:pPr algn="ctr"/>
            <a:r>
              <a:rPr sz="1150" b="0" i="0">
                <a:solidFill>
                  <a:srgbClr val="2E1B5B"/>
                </a:solidFill>
                <a:latin typeface="Calibri"/>
              </a:rPr>
              <a:t>Key automatically shortened</a:t>
            </a:r>
          </a:p>
        </p:txBody>
      </p:sp>
      <p:sp>
        <p:nvSpPr>
          <p:cNvPr id="35" name="Rounded Rectangle 34"/>
          <p:cNvSpPr/>
          <p:nvPr/>
        </p:nvSpPr>
        <p:spPr>
          <a:xfrm>
            <a:off x="6035040" y="3822191"/>
            <a:ext cx="2651760" cy="795528"/>
          </a:xfrm>
          <a:prstGeom prst="roundRect">
            <a:avLst>
              <a:gd name="adj" fmla="val 12000"/>
            </a:avLst>
          </a:prstGeom>
          <a:solidFill>
            <a:srgbClr val="D645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Aft>
                <a:spcPts val="100"/>
              </a:spcAft>
            </a:pPr>
            <a:r>
              <a:rPr sz="1400" b="1" i="0">
                <a:solidFill>
                  <a:srgbClr val="FFFFFF"/>
                </a:solidFill>
                <a:latin typeface="Calibri"/>
              </a:rPr>
              <a:t>Compromised</a:t>
            </a:r>
          </a:p>
          <a:p>
            <a:pPr algn="ctr"/>
            <a:r>
              <a:rPr sz="1150" b="0" i="0">
                <a:solidFill>
                  <a:srgbClr val="FFFFFF"/>
                </a:solidFill>
                <a:latin typeface="Calibri"/>
              </a:rPr>
              <a:t>Key discarded, messaging blocked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Project Structure: Root &amp; Folders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graphicFrame>
        <p:nvGraphicFramePr>
          <p:cNvPr id="26" name="Table 25"/>
          <p:cNvGraphicFramePr>
            <a:graphicFrameLocks noGrp="1"/>
          </p:cNvGraphicFramePr>
          <p:nvPr/>
        </p:nvGraphicFramePr>
        <p:xfrm>
          <a:off x="457200" y="1691640"/>
          <a:ext cx="8229600" cy="2907792"/>
        </p:xfrm>
        <a:graphic>
          <a:graphicData uri="http://schemas.openxmlformats.org/drawingml/2006/table">
            <a:tbl>
              <a:tblPr firstRow="0" bandRow="0">
                <a:tableStyleId>{2D5ABB26-0587-4C30-8999-92F81FD0307C}</a:tableStyleId>
              </a:tblPr>
              <a:tblGrid>
                <a:gridCol w="2194560"/>
                <a:gridCol w="6035040"/>
              </a:tblGrid>
              <a:tr h="242316">
                <a:tc>
                  <a:txBody>
                    <a:bodyPr wrap="square"/>
                    <a:lstStyle/>
                    <a:p>
                      <a:r>
                        <a:rPr sz="1100" b="1" i="0">
                          <a:solidFill>
                            <a:srgbClr val="FFFFFF"/>
                          </a:solidFill>
                          <a:latin typeface="Calibri"/>
                        </a:rPr>
                        <a:t>FILE / FOLDER</a:t>
                      </a:r>
                    </a:p>
                  </a:txBody>
                  <a:tcPr marL="91440" marT="27432" marR="91440" marB="27432" anchor="ctr">
                    <a:lnL w="0">
                      <a:noFill/>
                    </a:lnL>
                    <a:lnR w="0">
                      <a:noFill/>
                    </a:lnR>
                    <a:lnT w="0">
                      <a:noFill/>
                    </a:lnT>
                    <a:lnB w="0">
                      <a:noFill/>
                    </a:lnB>
                    <a:solidFill>
                      <a:srgbClr val="5B3BA8"/>
                    </a:solidFill>
                  </a:tcPr>
                </a:tc>
                <a:tc>
                  <a:txBody>
                    <a:bodyPr wrap="square"/>
                    <a:lstStyle/>
                    <a:p>
                      <a:r>
                        <a:rPr sz="1100" b="1" i="0">
                          <a:solidFill>
                            <a:srgbClr val="FFFFFF"/>
                          </a:solidFill>
                          <a:latin typeface="Calibri"/>
                        </a:rPr>
                        <a:t>PURPOSE</a:t>
                      </a:r>
                    </a:p>
                  </a:txBody>
                  <a:tcPr marL="91440" marT="27432" marR="91440" marB="27432" anchor="ctr">
                    <a:lnL w="0">
                      <a:noFill/>
                    </a:lnL>
                    <a:lnR w="0">
                      <a:noFill/>
                    </a:lnR>
                    <a:lnT w="0">
                      <a:noFill/>
                    </a:lnT>
                    <a:lnB w="0">
                      <a:noFill/>
                    </a:lnB>
                    <a:solidFill>
                      <a:srgbClr val="5B3BA8"/>
                    </a:solidFill>
                  </a:tcPr>
                </a:tc>
              </a:tr>
              <a:tr h="242316">
                <a:tc>
                  <a:txBody>
                    <a:bodyPr wrap="square"/>
                    <a:lstStyle/>
                    <a:p>
                      <a:r>
                        <a:rPr sz="1050" b="1" i="0">
                          <a:solidFill>
                            <a:srgbClr val="5B3BA8"/>
                          </a:solidFill>
                          <a:latin typeface="Courier New"/>
                        </a:rPr>
                        <a:t>README.md</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150" b="0" i="0">
                          <a:solidFill>
                            <a:srgbClr val="3B3470"/>
                          </a:solidFill>
                          <a:latin typeface="Calibri"/>
                        </a:rPr>
                        <a:t>Team details, problem, solution, architecture, tech stack and run steps</a:t>
                      </a:r>
                    </a:p>
                  </a:txBody>
                  <a:tcPr marL="91440" marT="27432" marR="91440" marB="27432" anchor="ctr">
                    <a:lnL w="0">
                      <a:noFill/>
                    </a:lnL>
                    <a:lnR w="0">
                      <a:noFill/>
                    </a:lnR>
                    <a:lnT w="0">
                      <a:noFill/>
                    </a:lnT>
                    <a:lnB w="6350">
                      <a:solidFill>
                        <a:srgbClr val="B8BDEB"/>
                      </a:solidFill>
                    </a:lnB>
                    <a:solidFill>
                      <a:srgbClr val="FFFFFF"/>
                    </a:solidFill>
                  </a:tcPr>
                </a:tc>
              </a:tr>
              <a:tr h="242316">
                <a:tc>
                  <a:txBody>
                    <a:bodyPr wrap="square"/>
                    <a:lstStyle/>
                    <a:p>
                      <a:r>
                        <a:rPr sz="1050" b="1" i="0">
                          <a:solidFill>
                            <a:srgbClr val="5B3BA8"/>
                          </a:solidFill>
                          <a:latin typeface="Courier New"/>
                        </a:rPr>
                        <a:t>requirements.txt</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150" b="0" i="0">
                          <a:solidFill>
                            <a:srgbClr val="3B3470"/>
                          </a:solidFill>
                          <a:latin typeface="Calibri"/>
                        </a:rPr>
                        <a:t>Python dependencies, installed with pip</a:t>
                      </a:r>
                    </a:p>
                  </a:txBody>
                  <a:tcPr marL="91440" marT="27432" marR="91440" marB="27432" anchor="ctr">
                    <a:lnL w="0">
                      <a:noFill/>
                    </a:lnL>
                    <a:lnR w="0">
                      <a:noFill/>
                    </a:lnR>
                    <a:lnT w="0">
                      <a:noFill/>
                    </a:lnT>
                    <a:lnB w="6350">
                      <a:solidFill>
                        <a:srgbClr val="B8BDEB"/>
                      </a:solidFill>
                    </a:lnB>
                    <a:solidFill>
                      <a:srgbClr val="EEF0FE"/>
                    </a:solidFill>
                  </a:tcPr>
                </a:tc>
              </a:tr>
              <a:tr h="242316">
                <a:tc>
                  <a:txBody>
                    <a:bodyPr wrap="square"/>
                    <a:lstStyle/>
                    <a:p>
                      <a:r>
                        <a:rPr sz="1050" b="1" i="0">
                          <a:solidFill>
                            <a:srgbClr val="5B3BA8"/>
                          </a:solidFill>
                          <a:latin typeface="Courier New"/>
                        </a:rPr>
                        <a:t>.env.example</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150" b="0" i="0">
                          <a:solidFill>
                            <a:srgbClr val="3B3470"/>
                          </a:solidFill>
                          <a:latin typeface="Calibri"/>
                        </a:rPr>
                        <a:t>Template for your IBM Quantum token</a:t>
                      </a:r>
                    </a:p>
                  </a:txBody>
                  <a:tcPr marL="91440" marT="27432" marR="91440" marB="27432" anchor="ctr">
                    <a:lnL w="0">
                      <a:noFill/>
                    </a:lnL>
                    <a:lnR w="0">
                      <a:noFill/>
                    </a:lnR>
                    <a:lnT w="0">
                      <a:noFill/>
                    </a:lnT>
                    <a:lnB w="6350">
                      <a:solidFill>
                        <a:srgbClr val="B8BDEB"/>
                      </a:solidFill>
                    </a:lnB>
                    <a:solidFill>
                      <a:srgbClr val="FFFFFF"/>
                    </a:solidFill>
                  </a:tcPr>
                </a:tc>
              </a:tr>
              <a:tr h="242316">
                <a:tc>
                  <a:txBody>
                    <a:bodyPr wrap="square"/>
                    <a:lstStyle/>
                    <a:p>
                      <a:r>
                        <a:rPr sz="1050" b="1" i="0">
                          <a:solidFill>
                            <a:srgbClr val="5B3BA8"/>
                          </a:solidFill>
                          <a:latin typeface="Courier New"/>
                        </a:rPr>
                        <a:t>.gitignore</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150" b="0" i="0">
                          <a:solidFill>
                            <a:srgbClr val="3B3470"/>
                          </a:solidFill>
                          <a:latin typeface="Calibri"/>
                        </a:rPr>
                        <a:t>Keeps .env out of Git</a:t>
                      </a:r>
                    </a:p>
                  </a:txBody>
                  <a:tcPr marL="91440" marT="27432" marR="91440" marB="27432" anchor="ctr">
                    <a:lnL w="0">
                      <a:noFill/>
                    </a:lnL>
                    <a:lnR w="0">
                      <a:noFill/>
                    </a:lnR>
                    <a:lnT w="0">
                      <a:noFill/>
                    </a:lnT>
                    <a:lnB w="6350">
                      <a:solidFill>
                        <a:srgbClr val="B8BDEB"/>
                      </a:solidFill>
                    </a:lnB>
                    <a:solidFill>
                      <a:srgbClr val="EEF0FE"/>
                    </a:solidFill>
                  </a:tcPr>
                </a:tc>
              </a:tr>
              <a:tr h="242316">
                <a:tc>
                  <a:txBody>
                    <a:bodyPr wrap="square"/>
                    <a:lstStyle/>
                    <a:p>
                      <a:r>
                        <a:rPr sz="1050" b="1" i="0">
                          <a:solidFill>
                            <a:srgbClr val="5B3BA8"/>
                          </a:solidFill>
                          <a:latin typeface="Courier New"/>
                        </a:rPr>
                        <a:t>conftest.py</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150" b="0" i="0">
                          <a:solidFill>
                            <a:srgbClr val="3B3470"/>
                          </a:solidFill>
                          <a:latin typeface="Calibri"/>
                        </a:rPr>
                        <a:t>pytest configuration</a:t>
                      </a:r>
                    </a:p>
                  </a:txBody>
                  <a:tcPr marL="91440" marT="27432" marR="91440" marB="27432" anchor="ctr">
                    <a:lnL w="0">
                      <a:noFill/>
                    </a:lnL>
                    <a:lnR w="0">
                      <a:noFill/>
                    </a:lnR>
                    <a:lnT w="0">
                      <a:noFill/>
                    </a:lnT>
                    <a:lnB w="6350">
                      <a:solidFill>
                        <a:srgbClr val="B8BDEB"/>
                      </a:solidFill>
                    </a:lnB>
                    <a:solidFill>
                      <a:srgbClr val="FFFFFF"/>
                    </a:solidFill>
                  </a:tcPr>
                </a:tc>
              </a:tr>
              <a:tr h="242316">
                <a:tc>
                  <a:txBody>
                    <a:bodyPr wrap="square"/>
                    <a:lstStyle/>
                    <a:p>
                      <a:r>
                        <a:rPr sz="1050" b="1" i="0">
                          <a:solidFill>
                            <a:srgbClr val="5B3BA8"/>
                          </a:solidFill>
                          <a:latin typeface="Courier New"/>
                        </a:rPr>
                        <a:t>run_compare.py</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150" b="0" i="0">
                          <a:solidFill>
                            <a:srgbClr val="3B3470"/>
                          </a:solidFill>
                          <a:latin typeface="Calibri"/>
                        </a:rPr>
                        <a:t>Simulator vs hardware comparison</a:t>
                      </a:r>
                    </a:p>
                  </a:txBody>
                  <a:tcPr marL="91440" marT="27432" marR="91440" marB="27432" anchor="ctr">
                    <a:lnL w="0">
                      <a:noFill/>
                    </a:lnL>
                    <a:lnR w="0">
                      <a:noFill/>
                    </a:lnR>
                    <a:lnT w="0">
                      <a:noFill/>
                    </a:lnT>
                    <a:lnB w="6350">
                      <a:solidFill>
                        <a:srgbClr val="B8BDEB"/>
                      </a:solidFill>
                    </a:lnB>
                    <a:solidFill>
                      <a:srgbClr val="EEF0FE"/>
                    </a:solidFill>
                  </a:tcPr>
                </a:tc>
              </a:tr>
              <a:tr h="242316">
                <a:tc>
                  <a:txBody>
                    <a:bodyPr wrap="square"/>
                    <a:lstStyle/>
                    <a:p>
                      <a:r>
                        <a:rPr sz="1050" b="1" i="0">
                          <a:solidFill>
                            <a:srgbClr val="5B3BA8"/>
                          </a:solidFill>
                          <a:latin typeface="Courier New"/>
                        </a:rPr>
                        <a:t>run_real.py</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150" b="0" i="0">
                          <a:solidFill>
                            <a:srgbClr val="3B3470"/>
                          </a:solidFill>
                          <a:latin typeface="Calibri"/>
                        </a:rPr>
                        <a:t>Run BB84 on a real IBM backend</a:t>
                      </a:r>
                    </a:p>
                  </a:txBody>
                  <a:tcPr marL="91440" marT="27432" marR="91440" marB="27432" anchor="ctr">
                    <a:lnL w="0">
                      <a:noFill/>
                    </a:lnL>
                    <a:lnR w="0">
                      <a:noFill/>
                    </a:lnR>
                    <a:lnT w="0">
                      <a:noFill/>
                    </a:lnT>
                    <a:lnB w="6350">
                      <a:solidFill>
                        <a:srgbClr val="B8BDEB"/>
                      </a:solidFill>
                    </a:lnB>
                    <a:solidFill>
                      <a:srgbClr val="FFFFFF"/>
                    </a:solidFill>
                  </a:tcPr>
                </a:tc>
              </a:tr>
              <a:tr h="242316">
                <a:tc>
                  <a:txBody>
                    <a:bodyPr wrap="square"/>
                    <a:lstStyle/>
                    <a:p>
                      <a:r>
                        <a:rPr sz="1050" b="1" i="0">
                          <a:solidFill>
                            <a:srgbClr val="5B3BA8"/>
                          </a:solidFill>
                          <a:latin typeface="Courier New"/>
                        </a:rPr>
                        <a:t>make_qber_table.py</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150" b="0" i="0">
                          <a:solidFill>
                            <a:srgbClr val="3B3470"/>
                          </a:solidFill>
                          <a:latin typeface="Calibri"/>
                        </a:rPr>
                        <a:t>QBER-vs-noise table</a:t>
                      </a:r>
                    </a:p>
                  </a:txBody>
                  <a:tcPr marL="91440" marT="27432" marR="91440" marB="27432" anchor="ctr">
                    <a:lnL w="0">
                      <a:noFill/>
                    </a:lnL>
                    <a:lnR w="0">
                      <a:noFill/>
                    </a:lnR>
                    <a:lnT w="0">
                      <a:noFill/>
                    </a:lnT>
                    <a:lnB w="6350">
                      <a:solidFill>
                        <a:srgbClr val="B8BDEB"/>
                      </a:solidFill>
                    </a:lnB>
                    <a:solidFill>
                      <a:srgbClr val="EEF0FE"/>
                    </a:solidFill>
                  </a:tcPr>
                </a:tc>
              </a:tr>
              <a:tr h="242316">
                <a:tc>
                  <a:txBody>
                    <a:bodyPr wrap="square"/>
                    <a:lstStyle/>
                    <a:p>
                      <a:r>
                        <a:rPr sz="1050" b="1" i="0">
                          <a:solidFill>
                            <a:srgbClr val="5B3BA8"/>
                          </a:solidFill>
                          <a:latin typeface="Courier New"/>
                        </a:rPr>
                        <a:t>results/</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150" b="0" i="0">
                          <a:solidFill>
                            <a:srgbClr val="3B3470"/>
                          </a:solidFill>
                          <a:latin typeface="Calibri"/>
                        </a:rPr>
                        <a:t>Saved hardware job IDs and QBER, sweep data and charts</a:t>
                      </a:r>
                    </a:p>
                  </a:txBody>
                  <a:tcPr marL="91440" marT="27432" marR="91440" marB="27432" anchor="ctr">
                    <a:lnL w="0">
                      <a:noFill/>
                    </a:lnL>
                    <a:lnR w="0">
                      <a:noFill/>
                    </a:lnR>
                    <a:lnT w="0">
                      <a:noFill/>
                    </a:lnT>
                    <a:lnB w="6350">
                      <a:solidFill>
                        <a:srgbClr val="B8BDEB"/>
                      </a:solidFill>
                    </a:lnB>
                    <a:solidFill>
                      <a:srgbClr val="FFFFFF"/>
                    </a:solidFill>
                  </a:tcPr>
                </a:tc>
              </a:tr>
              <a:tr h="242316">
                <a:tc>
                  <a:txBody>
                    <a:bodyPr wrap="square"/>
                    <a:lstStyle/>
                    <a:p>
                      <a:r>
                        <a:rPr sz="1050" b="1" i="0">
                          <a:solidFill>
                            <a:srgbClr val="5B3BA8"/>
                          </a:solidFill>
                          <a:latin typeface="Courier New"/>
                        </a:rPr>
                        <a:t>tests/</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150" b="0" i="0">
                          <a:solidFill>
                            <a:srgbClr val="3B3470"/>
                          </a:solidFill>
                          <a:latin typeface="Calibri"/>
                        </a:rPr>
                        <a:t>Unit tests (48 passing)</a:t>
                      </a:r>
                    </a:p>
                  </a:txBody>
                  <a:tcPr marL="91440" marT="27432" marR="91440" marB="27432" anchor="ctr">
                    <a:lnL w="0">
                      <a:noFill/>
                    </a:lnL>
                    <a:lnR w="0">
                      <a:noFill/>
                    </a:lnR>
                    <a:lnT w="0">
                      <a:noFill/>
                    </a:lnT>
                    <a:lnB w="6350">
                      <a:solidFill>
                        <a:srgbClr val="B8BDEB"/>
                      </a:solidFill>
                    </a:lnB>
                    <a:solidFill>
                      <a:srgbClr val="EEF0FE"/>
                    </a:solidFill>
                  </a:tcPr>
                </a:tc>
              </a:tr>
              <a:tr h="242316">
                <a:tc>
                  <a:txBody>
                    <a:bodyPr wrap="square"/>
                    <a:lstStyle/>
                    <a:p>
                      <a:r>
                        <a:rPr sz="1050" b="1" i="0">
                          <a:solidFill>
                            <a:srgbClr val="5B3BA8"/>
                          </a:solidFill>
                          <a:latin typeface="Courier New"/>
                        </a:rPr>
                        <a:t>LICENSE</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150" b="0" i="0">
                          <a:solidFill>
                            <a:srgbClr val="3B3470"/>
                          </a:solidFill>
                          <a:latin typeface="Calibri"/>
                        </a:rPr>
                        <a:t>MIT License</a:t>
                      </a:r>
                    </a:p>
                  </a:txBody>
                  <a:tcPr marL="91440" marT="27432" marR="91440" marB="27432" anchor="ctr">
                    <a:lnL w="0">
                      <a:noFill/>
                    </a:lnL>
                    <a:lnR w="0">
                      <a:noFill/>
                    </a:lnR>
                    <a:lnT w="0">
                      <a:noFill/>
                    </a:lnT>
                    <a:lnB w="6350">
                      <a:solidFill>
                        <a:srgbClr val="B8BDEB"/>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Project Structure: src/ Modules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graphicFrame>
        <p:nvGraphicFramePr>
          <p:cNvPr id="26" name="Table 25"/>
          <p:cNvGraphicFramePr>
            <a:graphicFrameLocks noGrp="1"/>
          </p:cNvGraphicFramePr>
          <p:nvPr/>
        </p:nvGraphicFramePr>
        <p:xfrm>
          <a:off x="457200" y="1691640"/>
          <a:ext cx="8229600" cy="2752344"/>
        </p:xfrm>
        <a:graphic>
          <a:graphicData uri="http://schemas.openxmlformats.org/drawingml/2006/table">
            <a:tbl>
              <a:tblPr firstRow="0" bandRow="0">
                <a:tableStyleId>{2D5ABB26-0587-4C30-8999-92F81FD0307C}</a:tableStyleId>
              </a:tblPr>
              <a:tblGrid>
                <a:gridCol w="2194560"/>
                <a:gridCol w="6035040"/>
              </a:tblGrid>
              <a:tr h="196596">
                <a:tc>
                  <a:txBody>
                    <a:bodyPr wrap="square"/>
                    <a:lstStyle/>
                    <a:p>
                      <a:r>
                        <a:rPr sz="1000" b="1" i="0">
                          <a:solidFill>
                            <a:srgbClr val="FFFFFF"/>
                          </a:solidFill>
                          <a:latin typeface="Calibri"/>
                        </a:rPr>
                        <a:t>MODULE</a:t>
                      </a:r>
                    </a:p>
                  </a:txBody>
                  <a:tcPr marL="91440" marT="0" marR="91440" marB="0" anchor="ctr">
                    <a:lnL w="0">
                      <a:noFill/>
                    </a:lnL>
                    <a:lnR w="0">
                      <a:noFill/>
                    </a:lnR>
                    <a:lnT w="0">
                      <a:noFill/>
                    </a:lnT>
                    <a:lnB w="0">
                      <a:noFill/>
                    </a:lnB>
                    <a:solidFill>
                      <a:srgbClr val="5B3BA8"/>
                    </a:solidFill>
                  </a:tcPr>
                </a:tc>
                <a:tc>
                  <a:txBody>
                    <a:bodyPr wrap="square"/>
                    <a:lstStyle/>
                    <a:p>
                      <a:r>
                        <a:rPr sz="1000" b="1" i="0">
                          <a:solidFill>
                            <a:srgbClr val="FFFFFF"/>
                          </a:solidFill>
                          <a:latin typeface="Calibri"/>
                        </a:rPr>
                        <a:t>RESPONSIBILITY</a:t>
                      </a:r>
                    </a:p>
                  </a:txBody>
                  <a:tcPr marL="91440" marT="0" marR="91440" marB="0" anchor="ctr">
                    <a:lnL w="0">
                      <a:noFill/>
                    </a:lnL>
                    <a:lnR w="0">
                      <a:noFill/>
                    </a:lnR>
                    <a:lnT w="0">
                      <a:noFill/>
                    </a:lnT>
                    <a:lnB w="0">
                      <a:noFill/>
                    </a:lnB>
                    <a:solidFill>
                      <a:srgbClr val="5B3BA8"/>
                    </a:solidFill>
                  </a:tcPr>
                </a:tc>
              </a:tr>
              <a:tr h="196596">
                <a:tc>
                  <a:txBody>
                    <a:bodyPr wrap="square"/>
                    <a:lstStyle/>
                    <a:p>
                      <a:r>
                        <a:rPr sz="950" b="1" i="0">
                          <a:solidFill>
                            <a:srgbClr val="5B3BA8"/>
                          </a:solidFill>
                          <a:latin typeface="Courier New"/>
                        </a:rPr>
                        <a:t>app.py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Streamlit entry point</a:t>
                      </a:r>
                    </a:p>
                  </a:txBody>
                  <a:tcPr marL="91440" marT="0" marR="91440" marB="0" anchor="ctr">
                    <a:lnL w="0">
                      <a:noFill/>
                    </a:lnL>
                    <a:lnR w="0">
                      <a:noFill/>
                    </a:lnR>
                    <a:lnT w="0">
                      <a:noFill/>
                    </a:lnT>
                    <a:lnB w="6350">
                      <a:solidFill>
                        <a:srgbClr val="B8BDEB"/>
                      </a:solidFill>
                    </a:lnB>
                    <a:solidFill>
                      <a:srgbClr val="FFFFFF"/>
                    </a:solidFill>
                  </a:tcPr>
                </a:tc>
              </a:tr>
              <a:tr h="196596">
                <a:tc>
                  <a:txBody>
                    <a:bodyPr wrap="square"/>
                    <a:lstStyle/>
                    <a:p>
                      <a:r>
                        <a:rPr sz="950" b="1" i="0">
                          <a:solidFill>
                            <a:srgbClr val="5B3BA8"/>
                          </a:solidFill>
                          <a:latin typeface="Courier New"/>
                        </a:rPr>
                        <a:t>bb84.py</a:t>
                      </a:r>
                    </a:p>
                  </a:txBody>
                  <a:tcPr marL="91440" marT="0" marR="91440" marB="0" anchor="ctr">
                    <a:lnL w="0">
                      <a:noFill/>
                    </a:lnL>
                    <a:lnR w="0">
                      <a:noFill/>
                    </a:lnR>
                    <a:lnT w="0">
                      <a:noFill/>
                    </a:lnT>
                    <a:lnB w="6350">
                      <a:solidFill>
                        <a:srgbClr val="B8BDEB"/>
                      </a:solidFill>
                    </a:lnB>
                    <a:solidFill>
                      <a:srgbClr val="EEF0FE"/>
                    </a:solidFill>
                  </a:tcPr>
                </a:tc>
                <a:tc>
                  <a:txBody>
                    <a:bodyPr wrap="square"/>
                    <a:lstStyle/>
                    <a:p>
                      <a:r>
                        <a:rPr sz="1050" b="0" i="0">
                          <a:solidFill>
                            <a:srgbClr val="3B3470"/>
                          </a:solidFill>
                          <a:latin typeface="Calibri"/>
                        </a:rPr>
                        <a:t>BB84 circuits, sifting, QBER</a:t>
                      </a:r>
                    </a:p>
                  </a:txBody>
                  <a:tcPr marL="91440" marT="0" marR="91440" marB="0" anchor="ctr">
                    <a:lnL w="0">
                      <a:noFill/>
                    </a:lnL>
                    <a:lnR w="0">
                      <a:noFill/>
                    </a:lnR>
                    <a:lnT w="0">
                      <a:noFill/>
                    </a:lnT>
                    <a:lnB w="6350">
                      <a:solidFill>
                        <a:srgbClr val="B8BDEB"/>
                      </a:solidFill>
                    </a:lnB>
                    <a:solidFill>
                      <a:srgbClr val="EEF0FE"/>
                    </a:solidFill>
                  </a:tcPr>
                </a:tc>
              </a:tr>
              <a:tr h="196596">
                <a:tc>
                  <a:txBody>
                    <a:bodyPr wrap="square"/>
                    <a:lstStyle/>
                    <a:p>
                      <a:r>
                        <a:rPr sz="950" b="1" i="0">
                          <a:solidFill>
                            <a:srgbClr val="5B3BA8"/>
                          </a:solidFill>
                          <a:latin typeface="Courier New"/>
                        </a:rPr>
                        <a:t>noise.py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Linear noise model (expected QBER fitted to simulated sweeps)</a:t>
                      </a:r>
                    </a:p>
                  </a:txBody>
                  <a:tcPr marL="91440" marT="0" marR="91440" marB="0" anchor="ctr">
                    <a:lnL w="0">
                      <a:noFill/>
                    </a:lnL>
                    <a:lnR w="0">
                      <a:noFill/>
                    </a:lnR>
                    <a:lnT w="0">
                      <a:noFill/>
                    </a:lnT>
                    <a:lnB w="6350">
                      <a:solidFill>
                        <a:srgbClr val="B8BDEB"/>
                      </a:solidFill>
                    </a:lnB>
                    <a:solidFill>
                      <a:srgbClr val="FFFFFF"/>
                    </a:solidFill>
                  </a:tcPr>
                </a:tc>
              </a:tr>
              <a:tr h="196596">
                <a:tc>
                  <a:txBody>
                    <a:bodyPr wrap="square"/>
                    <a:lstStyle/>
                    <a:p>
                      <a:r>
                        <a:rPr sz="950" b="1" i="0">
                          <a:solidFill>
                            <a:srgbClr val="5B3BA8"/>
                          </a:solidFill>
                          <a:latin typeface="Courier New"/>
                        </a:rPr>
                        <a:t>eve.py</a:t>
                      </a:r>
                    </a:p>
                  </a:txBody>
                  <a:tcPr marL="91440" marT="0" marR="91440" marB="0" anchor="ctr">
                    <a:lnL w="0">
                      <a:noFill/>
                    </a:lnL>
                    <a:lnR w="0">
                      <a:noFill/>
                    </a:lnR>
                    <a:lnT w="0">
                      <a:noFill/>
                    </a:lnT>
                    <a:lnB w="6350">
                      <a:solidFill>
                        <a:srgbClr val="B8BDEB"/>
                      </a:solidFill>
                    </a:lnB>
                    <a:solidFill>
                      <a:srgbClr val="EEF0FE"/>
                    </a:solidFill>
                  </a:tcPr>
                </a:tc>
                <a:tc>
                  <a:txBody>
                    <a:bodyPr wrap="square"/>
                    <a:lstStyle/>
                    <a:p>
                      <a:r>
                        <a:rPr sz="1050" b="0" i="0">
                          <a:solidFill>
                            <a:srgbClr val="3B3470"/>
                          </a:solidFill>
                          <a:latin typeface="Calibri"/>
                        </a:rPr>
                        <a:t>Intercept-resend attack</a:t>
                      </a:r>
                    </a:p>
                  </a:txBody>
                  <a:tcPr marL="91440" marT="0" marR="91440" marB="0" anchor="ctr">
                    <a:lnL w="0">
                      <a:noFill/>
                    </a:lnL>
                    <a:lnR w="0">
                      <a:noFill/>
                    </a:lnR>
                    <a:lnT w="0">
                      <a:noFill/>
                    </a:lnT>
                    <a:lnB w="6350">
                      <a:solidFill>
                        <a:srgbClr val="B8BDEB"/>
                      </a:solidFill>
                    </a:lnB>
                    <a:solidFill>
                      <a:srgbClr val="EEF0FE"/>
                    </a:solidFill>
                  </a:tcPr>
                </a:tc>
              </a:tr>
              <a:tr h="196596">
                <a:tc>
                  <a:txBody>
                    <a:bodyPr wrap="square"/>
                    <a:lstStyle/>
                    <a:p>
                      <a:r>
                        <a:rPr sz="950" b="1" i="0">
                          <a:solidFill>
                            <a:srgbClr val="5B3BA8"/>
                          </a:solidFill>
                          <a:latin typeface="Courier New"/>
                        </a:rPr>
                        <a:t>postprocess.py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Error correction, privacy amplification</a:t>
                      </a:r>
                    </a:p>
                  </a:txBody>
                  <a:tcPr marL="91440" marT="0" marR="91440" marB="0" anchor="ctr">
                    <a:lnL w="0">
                      <a:noFill/>
                    </a:lnL>
                    <a:lnR w="0">
                      <a:noFill/>
                    </a:lnR>
                    <a:lnT w="0">
                      <a:noFill/>
                    </a:lnT>
                    <a:lnB w="6350">
                      <a:solidFill>
                        <a:srgbClr val="B8BDEB"/>
                      </a:solidFill>
                    </a:lnB>
                    <a:solidFill>
                      <a:srgbClr val="FFFFFF"/>
                    </a:solidFill>
                  </a:tcPr>
                </a:tc>
              </a:tr>
              <a:tr h="196596">
                <a:tc>
                  <a:txBody>
                    <a:bodyPr wrap="square"/>
                    <a:lstStyle/>
                    <a:p>
                      <a:r>
                        <a:rPr sz="950" b="1" i="0">
                          <a:solidFill>
                            <a:srgbClr val="5B3BA8"/>
                          </a:solidFill>
                          <a:latin typeface="Courier New"/>
                        </a:rPr>
                        <a:t>trust_meter.py</a:t>
                      </a:r>
                    </a:p>
                  </a:txBody>
                  <a:tcPr marL="91440" marT="0" marR="91440" marB="0" anchor="ctr">
                    <a:lnL w="0">
                      <a:noFill/>
                    </a:lnL>
                    <a:lnR w="0">
                      <a:noFill/>
                    </a:lnR>
                    <a:lnT w="0">
                      <a:noFill/>
                    </a:lnT>
                    <a:lnB w="6350">
                      <a:solidFill>
                        <a:srgbClr val="B8BDEB"/>
                      </a:solidFill>
                    </a:lnB>
                    <a:solidFill>
                      <a:srgbClr val="EEF0FE"/>
                    </a:solidFill>
                  </a:tcPr>
                </a:tc>
                <a:tc>
                  <a:txBody>
                    <a:bodyPr wrap="square"/>
                    <a:lstStyle/>
                    <a:p>
                      <a:r>
                        <a:rPr sz="1050" b="0" i="0">
                          <a:solidFill>
                            <a:srgbClr val="3B3470"/>
                          </a:solidFill>
                          <a:latin typeface="Calibri"/>
                        </a:rPr>
                        <a:t>Safe / noisy / compromised classifier</a:t>
                      </a:r>
                    </a:p>
                  </a:txBody>
                  <a:tcPr marL="91440" marT="0" marR="91440" marB="0" anchor="ctr">
                    <a:lnL w="0">
                      <a:noFill/>
                    </a:lnL>
                    <a:lnR w="0">
                      <a:noFill/>
                    </a:lnR>
                    <a:lnT w="0">
                      <a:noFill/>
                    </a:lnT>
                    <a:lnB w="6350">
                      <a:solidFill>
                        <a:srgbClr val="B8BDEB"/>
                      </a:solidFill>
                    </a:lnB>
                    <a:solidFill>
                      <a:srgbClr val="EEF0FE"/>
                    </a:solidFill>
                  </a:tcPr>
                </a:tc>
              </a:tr>
              <a:tr h="196596">
                <a:tc>
                  <a:txBody>
                    <a:bodyPr wrap="square"/>
                    <a:lstStyle/>
                    <a:p>
                      <a:r>
                        <a:rPr sz="950" b="1" i="0">
                          <a:solidFill>
                            <a:srgbClr val="5B3BA8"/>
                          </a:solidFill>
                          <a:latin typeface="Courier New"/>
                        </a:rPr>
                        <a:t>pipeline.py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Full key-exchange pipeline</a:t>
                      </a:r>
                    </a:p>
                  </a:txBody>
                  <a:tcPr marL="91440" marT="0" marR="91440" marB="0" anchor="ctr">
                    <a:lnL w="0">
                      <a:noFill/>
                    </a:lnL>
                    <a:lnR w="0">
                      <a:noFill/>
                    </a:lnR>
                    <a:lnT w="0">
                      <a:noFill/>
                    </a:lnT>
                    <a:lnB w="6350">
                      <a:solidFill>
                        <a:srgbClr val="B8BDEB"/>
                      </a:solidFill>
                    </a:lnB>
                    <a:solidFill>
                      <a:srgbClr val="FFFFFF"/>
                    </a:solidFill>
                  </a:tcPr>
                </a:tc>
              </a:tr>
              <a:tr h="196596">
                <a:tc>
                  <a:txBody>
                    <a:bodyPr wrap="square"/>
                    <a:lstStyle/>
                    <a:p>
                      <a:r>
                        <a:rPr sz="950" b="1" i="0">
                          <a:solidFill>
                            <a:srgbClr val="5B3BA8"/>
                          </a:solidFill>
                          <a:latin typeface="Courier New"/>
                        </a:rPr>
                        <a:t>crypto_utils.py</a:t>
                      </a:r>
                    </a:p>
                  </a:txBody>
                  <a:tcPr marL="91440" marT="0" marR="91440" marB="0" anchor="ctr">
                    <a:lnL w="0">
                      <a:noFill/>
                    </a:lnL>
                    <a:lnR w="0">
                      <a:noFill/>
                    </a:lnR>
                    <a:lnT w="0">
                      <a:noFill/>
                    </a:lnT>
                    <a:lnB w="6350">
                      <a:solidFill>
                        <a:srgbClr val="B8BDEB"/>
                      </a:solidFill>
                    </a:lnB>
                    <a:solidFill>
                      <a:srgbClr val="EEF0FE"/>
                    </a:solidFill>
                  </a:tcPr>
                </a:tc>
                <a:tc>
                  <a:txBody>
                    <a:bodyPr wrap="square"/>
                    <a:lstStyle/>
                    <a:p>
                      <a:r>
                        <a:rPr sz="1050" b="0" i="0">
                          <a:solidFill>
                            <a:srgbClr val="3B3470"/>
                          </a:solidFill>
                          <a:latin typeface="Calibri"/>
                        </a:rPr>
                        <a:t>Key derivation, AES-GCM encrypt/decrypt</a:t>
                      </a:r>
                    </a:p>
                  </a:txBody>
                  <a:tcPr marL="91440" marT="0" marR="91440" marB="0" anchor="ctr">
                    <a:lnL w="0">
                      <a:noFill/>
                    </a:lnL>
                    <a:lnR w="0">
                      <a:noFill/>
                    </a:lnR>
                    <a:lnT w="0">
                      <a:noFill/>
                    </a:lnT>
                    <a:lnB w="6350">
                      <a:solidFill>
                        <a:srgbClr val="B8BDEB"/>
                      </a:solidFill>
                    </a:lnB>
                    <a:solidFill>
                      <a:srgbClr val="EEF0FE"/>
                    </a:solidFill>
                  </a:tcPr>
                </a:tc>
              </a:tr>
              <a:tr h="196596">
                <a:tc>
                  <a:txBody>
                    <a:bodyPr wrap="square"/>
                    <a:lstStyle/>
                    <a:p>
                      <a:r>
                        <a:rPr sz="950" b="1" i="0">
                          <a:solidFill>
                            <a:srgbClr val="5B3BA8"/>
                          </a:solidFill>
                          <a:latin typeface="Courier New"/>
                        </a:rPr>
                        <a:t>chat.py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Command-line secure chat</a:t>
                      </a:r>
                    </a:p>
                  </a:txBody>
                  <a:tcPr marL="91440" marT="0" marR="91440" marB="0" anchor="ctr">
                    <a:lnL w="0">
                      <a:noFill/>
                    </a:lnL>
                    <a:lnR w="0">
                      <a:noFill/>
                    </a:lnR>
                    <a:lnT w="0">
                      <a:noFill/>
                    </a:lnT>
                    <a:lnB w="6350">
                      <a:solidFill>
                        <a:srgbClr val="B8BDEB"/>
                      </a:solidFill>
                    </a:lnB>
                    <a:solidFill>
                      <a:srgbClr val="FFFFFF"/>
                    </a:solidFill>
                  </a:tcPr>
                </a:tc>
              </a:tr>
              <a:tr h="196596">
                <a:tc>
                  <a:txBody>
                    <a:bodyPr wrap="square"/>
                    <a:lstStyle/>
                    <a:p>
                      <a:r>
                        <a:rPr sz="950" b="1" i="0">
                          <a:solidFill>
                            <a:srgbClr val="5B3BA8"/>
                          </a:solidFill>
                          <a:latin typeface="Courier New"/>
                        </a:rPr>
                        <a:t>hardware.py</a:t>
                      </a:r>
                    </a:p>
                  </a:txBody>
                  <a:tcPr marL="91440" marT="0" marR="91440" marB="0" anchor="ctr">
                    <a:lnL w="0">
                      <a:noFill/>
                    </a:lnL>
                    <a:lnR w="0">
                      <a:noFill/>
                    </a:lnR>
                    <a:lnT w="0">
                      <a:noFill/>
                    </a:lnT>
                    <a:lnB w="6350">
                      <a:solidFill>
                        <a:srgbClr val="B8BDEB"/>
                      </a:solidFill>
                    </a:lnB>
                    <a:solidFill>
                      <a:srgbClr val="EEF0FE"/>
                    </a:solidFill>
                  </a:tcPr>
                </a:tc>
                <a:tc>
                  <a:txBody>
                    <a:bodyPr wrap="square"/>
                    <a:lstStyle/>
                    <a:p>
                      <a:r>
                        <a:rPr sz="1050" b="0" i="0">
                          <a:solidFill>
                            <a:srgbClr val="3B3470"/>
                          </a:solidFill>
                          <a:latin typeface="Calibri"/>
                        </a:rPr>
                        <a:t>IBM hardware runs</a:t>
                      </a:r>
                    </a:p>
                  </a:txBody>
                  <a:tcPr marL="91440" marT="0" marR="91440" marB="0" anchor="ctr">
                    <a:lnL w="0">
                      <a:noFill/>
                    </a:lnL>
                    <a:lnR w="0">
                      <a:noFill/>
                    </a:lnR>
                    <a:lnT w="0">
                      <a:noFill/>
                    </a:lnT>
                    <a:lnB w="6350">
                      <a:solidFill>
                        <a:srgbClr val="B8BDEB"/>
                      </a:solidFill>
                    </a:lnB>
                    <a:solidFill>
                      <a:srgbClr val="EEF0FE"/>
                    </a:solidFill>
                  </a:tcPr>
                </a:tc>
              </a:tr>
              <a:tr h="196596">
                <a:tc>
                  <a:txBody>
                    <a:bodyPr wrap="square"/>
                    <a:lstStyle/>
                    <a:p>
                      <a:r>
                        <a:rPr sz="950" b="1" i="0">
                          <a:solidFill>
                            <a:srgbClr val="5B3BA8"/>
                          </a:solidFill>
                          <a:latin typeface="Courier New"/>
                        </a:rPr>
                        <a:t>hardware_eve.py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Eve on real hardware</a:t>
                      </a:r>
                    </a:p>
                  </a:txBody>
                  <a:tcPr marL="91440" marT="0" marR="91440" marB="0" anchor="ctr">
                    <a:lnL w="0">
                      <a:noFill/>
                    </a:lnL>
                    <a:lnR w="0">
                      <a:noFill/>
                    </a:lnR>
                    <a:lnT w="0">
                      <a:noFill/>
                    </a:lnT>
                    <a:lnB w="6350">
                      <a:solidFill>
                        <a:srgbClr val="B8BDEB"/>
                      </a:solidFill>
                    </a:lnB>
                    <a:solidFill>
                      <a:srgbClr val="FFFFFF"/>
                    </a:solidFill>
                  </a:tcPr>
                </a:tc>
              </a:tr>
              <a:tr h="196596">
                <a:tc>
                  <a:txBody>
                    <a:bodyPr wrap="square"/>
                    <a:lstStyle/>
                    <a:p>
                      <a:r>
                        <a:rPr sz="950" b="1" i="0">
                          <a:solidFill>
                            <a:srgbClr val="5B3BA8"/>
                          </a:solidFill>
                          <a:latin typeface="Courier New"/>
                        </a:rPr>
                        <a:t>ibm_token.py</a:t>
                      </a:r>
                    </a:p>
                  </a:txBody>
                  <a:tcPr marL="91440" marT="0" marR="91440" marB="0" anchor="ctr">
                    <a:lnL w="0">
                      <a:noFill/>
                    </a:lnL>
                    <a:lnR w="0">
                      <a:noFill/>
                    </a:lnR>
                    <a:lnT w="0">
                      <a:noFill/>
                    </a:lnT>
                    <a:lnB w="6350">
                      <a:solidFill>
                        <a:srgbClr val="B8BDEB"/>
                      </a:solidFill>
                    </a:lnB>
                    <a:solidFill>
                      <a:srgbClr val="EEF0FE"/>
                    </a:solidFill>
                  </a:tcPr>
                </a:tc>
                <a:tc>
                  <a:txBody>
                    <a:bodyPr wrap="square"/>
                    <a:lstStyle/>
                    <a:p>
                      <a:r>
                        <a:rPr sz="1050" b="0" i="0">
                          <a:solidFill>
                            <a:srgbClr val="3B3470"/>
                          </a:solidFill>
                          <a:latin typeface="Calibri"/>
                        </a:rPr>
                        <a:t>Loads the IBM token from .env</a:t>
                      </a:r>
                    </a:p>
                  </a:txBody>
                  <a:tcPr marL="91440" marT="0" marR="91440" marB="0" anchor="ctr">
                    <a:lnL w="0">
                      <a:noFill/>
                    </a:lnL>
                    <a:lnR w="0">
                      <a:noFill/>
                    </a:lnR>
                    <a:lnT w="0">
                      <a:noFill/>
                    </a:lnT>
                    <a:lnB w="6350">
                      <a:solidFill>
                        <a:srgbClr val="B8BDEB"/>
                      </a:solidFill>
                    </a:lnB>
                    <a:solidFill>
                      <a:srgbClr val="EEF0FE"/>
                    </a:solidFill>
                  </a:tcPr>
                </a:tc>
              </a:tr>
              <a:tr h="196596">
                <a:tc>
                  <a:txBody>
                    <a:bodyPr wrap="square"/>
                    <a:lstStyle/>
                    <a:p>
                      <a:r>
                        <a:rPr sz="950" b="1" i="0">
                          <a:solidFill>
                            <a:srgbClr val="5B3BA8"/>
                          </a:solidFill>
                          <a:latin typeface="Courier New"/>
                        </a:rPr>
                        <a:t>__init__.py</a:t>
                      </a:r>
                    </a:p>
                  </a:txBody>
                  <a:tcPr marL="91440" marT="0" marR="91440" marB="0" anchor="ctr">
                    <a:lnL w="0">
                      <a:noFill/>
                    </a:lnL>
                    <a:lnR w="0">
                      <a:noFill/>
                    </a:lnR>
                    <a:lnT w="0">
                      <a:noFill/>
                    </a:lnT>
                    <a:lnB w="6350">
                      <a:solidFill>
                        <a:srgbClr val="B8BDEB"/>
                      </a:solidFill>
                    </a:lnB>
                    <a:solidFill>
                      <a:srgbClr val="FFFFFF"/>
                    </a:solidFill>
                  </a:tcPr>
                </a:tc>
                <a:tc>
                  <a:txBody>
                    <a:bodyPr wrap="square"/>
                    <a:lstStyle/>
                    <a:p>
                      <a:r>
                        <a:rPr sz="1050" b="0" i="0">
                          <a:solidFill>
                            <a:srgbClr val="3B3470"/>
                          </a:solidFill>
                          <a:latin typeface="Calibri"/>
                        </a:rPr>
                        <a:t>Package marker</a:t>
                      </a:r>
                    </a:p>
                  </a:txBody>
                  <a:tcPr marL="91440" marT="0" marR="91440" marB="0" anchor="ctr">
                    <a:lnL w="0">
                      <a:noFill/>
                    </a:lnL>
                    <a:lnR w="0">
                      <a:noFill/>
                    </a:lnR>
                    <a:lnT w="0">
                      <a:noFill/>
                    </a:lnT>
                    <a:lnB w="6350">
                      <a:solidFill>
                        <a:srgbClr val="B8BDEB"/>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How to Run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4846320" cy="2926080"/>
          </a:xfrm>
          <a:prstGeom prst="roundRect">
            <a:avLst>
              <a:gd name="adj" fmla="val 4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828800"/>
            <a:ext cx="4480559" cy="182880"/>
          </a:xfrm>
          <a:prstGeom prst="rect">
            <a:avLst/>
          </a:prstGeom>
          <a:noFill/>
        </p:spPr>
        <p:txBody>
          <a:bodyPr wrap="square" lIns="0" tIns="0" rIns="0" bIns="0" anchor="t">
            <a:spAutoFit/>
          </a:bodyPr>
          <a:lstStyle/>
          <a:p>
            <a:r>
              <a:rPr sz="950" b="1" i="0" spc="100">
                <a:solidFill>
                  <a:srgbClr val="F4B6D2"/>
                </a:solidFill>
                <a:latin typeface="Calibri"/>
              </a:rPr>
              <a:t>POWERSHELL COMMANDS</a:t>
            </a:r>
          </a:p>
        </p:txBody>
      </p:sp>
      <p:sp>
        <p:nvSpPr>
          <p:cNvPr id="28" name="TextBox 27"/>
          <p:cNvSpPr txBox="1"/>
          <p:nvPr/>
        </p:nvSpPr>
        <p:spPr>
          <a:xfrm>
            <a:off x="658368" y="2103120"/>
            <a:ext cx="4480559" cy="2423160"/>
          </a:xfrm>
          <a:prstGeom prst="rect">
            <a:avLst/>
          </a:prstGeom>
          <a:noFill/>
        </p:spPr>
        <p:txBody>
          <a:bodyPr wrap="square" lIns="0" tIns="0" rIns="0" bIns="0" anchor="t">
            <a:spAutoFit/>
          </a:bodyPr>
          <a:lstStyle/>
          <a:p>
            <a:r>
              <a:rPr sz="1250" b="1" i="0">
                <a:solidFill>
                  <a:srgbClr val="FFFFFF"/>
                </a:solidFill>
                <a:latin typeface="Courier New"/>
              </a:rPr>
              <a:t>python -m venv qenv</a:t>
            </a:r>
          </a:p>
          <a:p>
            <a:pPr>
              <a:spcAft>
                <a:spcPts val="700"/>
              </a:spcAft>
            </a:pPr>
            <a:r>
              <a:rPr sz="1050" b="0" i="1">
                <a:solidFill>
                  <a:srgbClr val="A9B4F5"/>
                </a:solidFill>
                <a:latin typeface="Calibri"/>
              </a:rPr>
              <a:t>create a virtual environment</a:t>
            </a:r>
          </a:p>
          <a:p>
            <a:r>
              <a:rPr sz="1250" b="1" i="0">
                <a:solidFill>
                  <a:srgbClr val="FFFFFF"/>
                </a:solidFill>
                <a:latin typeface="Courier New"/>
              </a:rPr>
              <a:t>.\qenv\Scripts\Activate.ps1</a:t>
            </a:r>
          </a:p>
          <a:p>
            <a:pPr>
              <a:spcAft>
                <a:spcPts val="700"/>
              </a:spcAft>
            </a:pPr>
            <a:r>
              <a:rPr sz="1050" b="0" i="1">
                <a:solidFill>
                  <a:srgbClr val="A9B4F5"/>
                </a:solidFill>
                <a:latin typeface="Calibri"/>
              </a:rPr>
              <a:t>activate it</a:t>
            </a:r>
          </a:p>
          <a:p>
            <a:r>
              <a:rPr sz="1250" b="1" i="0">
                <a:solidFill>
                  <a:srgbClr val="FFFFFF"/>
                </a:solidFill>
                <a:latin typeface="Courier New"/>
              </a:rPr>
              <a:t>pip install -r requirements.txt</a:t>
            </a:r>
          </a:p>
          <a:p>
            <a:pPr>
              <a:spcAft>
                <a:spcPts val="700"/>
              </a:spcAft>
            </a:pPr>
            <a:r>
              <a:rPr sz="1050" b="0" i="1">
                <a:solidFill>
                  <a:srgbClr val="A9B4F5"/>
                </a:solidFill>
                <a:latin typeface="Calibri"/>
              </a:rPr>
              <a:t>install dependencies</a:t>
            </a:r>
          </a:p>
          <a:p>
            <a:r>
              <a:rPr sz="1250" b="1" i="0">
                <a:solidFill>
                  <a:srgbClr val="FFFFFF"/>
                </a:solidFill>
                <a:latin typeface="Courier New"/>
              </a:rPr>
              <a:t>python -m pytest -q</a:t>
            </a:r>
          </a:p>
          <a:p>
            <a:pPr>
              <a:spcAft>
                <a:spcPts val="700"/>
              </a:spcAft>
            </a:pPr>
            <a:r>
              <a:rPr sz="1050" b="0" i="1">
                <a:solidFill>
                  <a:srgbClr val="A9B4F5"/>
                </a:solidFill>
                <a:latin typeface="Calibri"/>
              </a:rPr>
              <a:t>run the unit tests</a:t>
            </a:r>
          </a:p>
          <a:p>
            <a:r>
              <a:rPr sz="1250" b="1" i="0">
                <a:solidFill>
                  <a:srgbClr val="FFFFFF"/>
                </a:solidFill>
                <a:latin typeface="Courier New"/>
              </a:rPr>
              <a:t>streamlit run src/app.py</a:t>
            </a:r>
          </a:p>
          <a:p>
            <a:pPr>
              <a:spcAft>
                <a:spcPts val="700"/>
              </a:spcAft>
            </a:pPr>
            <a:r>
              <a:rPr sz="1050" b="0" i="1">
                <a:solidFill>
                  <a:srgbClr val="A9B4F5"/>
                </a:solidFill>
                <a:latin typeface="Calibri"/>
              </a:rPr>
              <a:t>launch the app</a:t>
            </a:r>
          </a:p>
        </p:txBody>
      </p:sp>
      <p:sp>
        <p:nvSpPr>
          <p:cNvPr id="29" name="Rounded Rectangle 28"/>
          <p:cNvSpPr/>
          <p:nvPr/>
        </p:nvSpPr>
        <p:spPr>
          <a:xfrm>
            <a:off x="5486400" y="1691640"/>
            <a:ext cx="320040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0" y="1810512"/>
            <a:ext cx="2834640" cy="182880"/>
          </a:xfrm>
          <a:prstGeom prst="rect">
            <a:avLst/>
          </a:prstGeom>
          <a:noFill/>
        </p:spPr>
        <p:txBody>
          <a:bodyPr wrap="square" lIns="0" tIns="0" rIns="0" bIns="0" anchor="t">
            <a:spAutoFit/>
          </a:bodyPr>
          <a:lstStyle/>
          <a:p>
            <a:r>
              <a:rPr sz="950" b="1" i="0" spc="100">
                <a:solidFill>
                  <a:srgbClr val="5B3BA8"/>
                </a:solidFill>
                <a:latin typeface="Calibri"/>
              </a:rPr>
              <a:t>REAL IBM BACKEND</a:t>
            </a:r>
          </a:p>
        </p:txBody>
      </p:sp>
      <p:sp>
        <p:nvSpPr>
          <p:cNvPr id="31" name="TextBox 30"/>
          <p:cNvSpPr txBox="1"/>
          <p:nvPr/>
        </p:nvSpPr>
        <p:spPr>
          <a:xfrm>
            <a:off x="5669280" y="2057400"/>
            <a:ext cx="2880360" cy="960120"/>
          </a:xfrm>
          <a:prstGeom prst="rect">
            <a:avLst/>
          </a:prstGeom>
          <a:noFill/>
        </p:spPr>
        <p:txBody>
          <a:bodyPr wrap="square" lIns="0" tIns="0" rIns="0" bIns="0" anchor="t">
            <a:spAutoFit/>
          </a:bodyPr>
          <a:lstStyle/>
          <a:p>
            <a:r>
              <a:rPr sz="1200" b="0" i="0">
                <a:solidFill>
                  <a:srgbClr val="3B3470"/>
                </a:solidFill>
                <a:latin typeface="Calibri"/>
              </a:rPr>
              <a:t>Copy </a:t>
            </a:r>
            <a:r>
              <a:rPr sz="1200" b="1" i="0">
                <a:solidFill>
                  <a:srgbClr val="5B3BA8"/>
                </a:solidFill>
                <a:latin typeface="Courier New"/>
              </a:rPr>
              <a:t>.env.example</a:t>
            </a:r>
            <a:r>
              <a:rPr sz="1200" b="0" i="0">
                <a:solidFill>
                  <a:srgbClr val="3B3470"/>
                </a:solidFill>
                <a:latin typeface="Calibri"/>
              </a:rPr>
              <a:t> to </a:t>
            </a:r>
            <a:r>
              <a:rPr sz="1200" b="1" i="0">
                <a:solidFill>
                  <a:srgbClr val="5B3BA8"/>
                </a:solidFill>
                <a:latin typeface="Courier New"/>
              </a:rPr>
              <a:t>.env</a:t>
            </a:r>
            <a:r>
              <a:rPr sz="1200" b="0" i="0">
                <a:solidFill>
                  <a:srgbClr val="3B3470"/>
                </a:solidFill>
                <a:latin typeface="Calibri"/>
              </a:rPr>
              <a:t> and add your IBM Quantum token.</a:t>
            </a:r>
          </a:p>
        </p:txBody>
      </p:sp>
      <p:sp>
        <p:nvSpPr>
          <p:cNvPr id="32" name="Rounded Rectangle 31"/>
          <p:cNvSpPr/>
          <p:nvPr/>
        </p:nvSpPr>
        <p:spPr>
          <a:xfrm>
            <a:off x="5486400" y="3246120"/>
            <a:ext cx="320040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364992"/>
            <a:ext cx="2834640" cy="182880"/>
          </a:xfrm>
          <a:prstGeom prst="rect">
            <a:avLst/>
          </a:prstGeom>
          <a:noFill/>
        </p:spPr>
        <p:txBody>
          <a:bodyPr wrap="square" lIns="0" tIns="0" rIns="0" bIns="0" anchor="t">
            <a:spAutoFit/>
          </a:bodyPr>
          <a:lstStyle/>
          <a:p>
            <a:r>
              <a:rPr sz="950" b="1" i="0" spc="100">
                <a:solidFill>
                  <a:srgbClr val="5B3BA8"/>
                </a:solidFill>
                <a:latin typeface="Calibri"/>
              </a:rPr>
              <a:t>SIMULATOR RUNS</a:t>
            </a:r>
          </a:p>
        </p:txBody>
      </p:sp>
      <p:sp>
        <p:nvSpPr>
          <p:cNvPr id="34" name="TextBox 33"/>
          <p:cNvSpPr txBox="1"/>
          <p:nvPr/>
        </p:nvSpPr>
        <p:spPr>
          <a:xfrm>
            <a:off x="5669280" y="3611880"/>
            <a:ext cx="2880360" cy="960120"/>
          </a:xfrm>
          <a:prstGeom prst="rect">
            <a:avLst/>
          </a:prstGeom>
          <a:noFill/>
        </p:spPr>
        <p:txBody>
          <a:bodyPr wrap="square" lIns="0" tIns="0" rIns="0" bIns="0" anchor="t">
            <a:spAutoFit/>
          </a:bodyPr>
          <a:lstStyle/>
          <a:p>
            <a:r>
              <a:rPr sz="1200" b="0" i="0">
                <a:solidFill>
                  <a:srgbClr val="3B3470"/>
                </a:solidFill>
                <a:latin typeface="Calibri"/>
              </a:rPr>
              <a:t>The simulator runs need no token.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How to Push Code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4846320" cy="2926080"/>
          </a:xfrm>
          <a:prstGeom prst="roundRect">
            <a:avLst>
              <a:gd name="adj" fmla="val 4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828800"/>
            <a:ext cx="4480559" cy="182880"/>
          </a:xfrm>
          <a:prstGeom prst="rect">
            <a:avLst/>
          </a:prstGeom>
          <a:noFill/>
        </p:spPr>
        <p:txBody>
          <a:bodyPr wrap="square" lIns="0" tIns="0" rIns="0" bIns="0" anchor="t">
            <a:spAutoFit/>
          </a:bodyPr>
          <a:lstStyle/>
          <a:p>
            <a:r>
              <a:rPr sz="950" b="1" i="0" spc="100">
                <a:solidFill>
                  <a:srgbClr val="F4B6D2"/>
                </a:solidFill>
                <a:latin typeface="Calibri"/>
              </a:rPr>
              <a:t>GIT WORKFLOW</a:t>
            </a:r>
          </a:p>
        </p:txBody>
      </p:sp>
      <p:sp>
        <p:nvSpPr>
          <p:cNvPr id="28" name="TextBox 27"/>
          <p:cNvSpPr txBox="1"/>
          <p:nvPr/>
        </p:nvSpPr>
        <p:spPr>
          <a:xfrm>
            <a:off x="658368" y="2103120"/>
            <a:ext cx="4480559" cy="2423160"/>
          </a:xfrm>
          <a:prstGeom prst="rect">
            <a:avLst/>
          </a:prstGeom>
          <a:noFill/>
        </p:spPr>
        <p:txBody>
          <a:bodyPr wrap="square" lIns="0" tIns="0" rIns="0" bIns="0" anchor="t">
            <a:spAutoFit/>
          </a:bodyPr>
          <a:lstStyle/>
          <a:p>
            <a:r>
              <a:rPr sz="1250" b="1" i="0">
                <a:solidFill>
                  <a:srgbClr val="FFFFFF"/>
                </a:solidFill>
                <a:latin typeface="Courier New"/>
              </a:rPr>
              <a:t>git checkout main</a:t>
            </a:r>
          </a:p>
          <a:p>
            <a:pPr>
              <a:spcAft>
                <a:spcPts val="700"/>
              </a:spcAft>
            </a:pPr>
            <a:r>
              <a:rPr sz="1050" b="0" i="1">
                <a:solidFill>
                  <a:srgbClr val="A9B4F5"/>
                </a:solidFill>
                <a:latin typeface="Calibri"/>
              </a:rPr>
              <a:t/>
            </a:r>
          </a:p>
          <a:p>
            <a:r>
              <a:rPr sz="1250" b="1" i="0">
                <a:solidFill>
                  <a:srgbClr val="FFFFFF"/>
                </a:solidFill>
                <a:latin typeface="Courier New"/>
              </a:rPr>
              <a:t>git pull origin main</a:t>
            </a:r>
          </a:p>
          <a:p>
            <a:pPr>
              <a:spcAft>
                <a:spcPts val="700"/>
              </a:spcAft>
            </a:pPr>
            <a:r>
              <a:rPr sz="1050" b="0" i="1">
                <a:solidFill>
                  <a:srgbClr val="A9B4F5"/>
                </a:solidFill>
                <a:latin typeface="Calibri"/>
              </a:rPr>
              <a:t/>
            </a:r>
          </a:p>
          <a:p>
            <a:r>
              <a:rPr sz="1250" b="1" i="0">
                <a:solidFill>
                  <a:srgbClr val="FFFFFF"/>
                </a:solidFill>
                <a:latin typeface="Courier New"/>
              </a:rPr>
              <a:t>git checkout -b feature/short-name</a:t>
            </a:r>
          </a:p>
          <a:p>
            <a:pPr>
              <a:spcAft>
                <a:spcPts val="700"/>
              </a:spcAft>
            </a:pPr>
            <a:r>
              <a:rPr sz="1050" b="0" i="1">
                <a:solidFill>
                  <a:srgbClr val="A9B4F5"/>
                </a:solidFill>
                <a:latin typeface="Calibri"/>
              </a:rPr>
              <a:t/>
            </a:r>
          </a:p>
          <a:p>
            <a:r>
              <a:rPr sz="1250" b="1" i="0">
                <a:solidFill>
                  <a:srgbClr val="FFFFFF"/>
                </a:solidFill>
                <a:latin typeface="Courier New"/>
              </a:rPr>
              <a:t>git add &lt;changed files&gt;</a:t>
            </a:r>
          </a:p>
          <a:p>
            <a:pPr>
              <a:spcAft>
                <a:spcPts val="700"/>
              </a:spcAft>
            </a:pPr>
            <a:r>
              <a:rPr sz="1050" b="0" i="1">
                <a:solidFill>
                  <a:srgbClr val="A9B4F5"/>
                </a:solidFill>
                <a:latin typeface="Calibri"/>
              </a:rPr>
              <a:t/>
            </a:r>
          </a:p>
          <a:p>
            <a:r>
              <a:rPr sz="1250" b="1" i="0">
                <a:solidFill>
                  <a:srgbClr val="FFFFFF"/>
                </a:solidFill>
                <a:latin typeface="Courier New"/>
              </a:rPr>
              <a:t>git commit -m "Describe the change"</a:t>
            </a:r>
          </a:p>
          <a:p>
            <a:pPr>
              <a:spcAft>
                <a:spcPts val="700"/>
              </a:spcAft>
            </a:pPr>
            <a:r>
              <a:rPr sz="1050" b="0" i="1">
                <a:solidFill>
                  <a:srgbClr val="A9B4F5"/>
                </a:solidFill>
                <a:latin typeface="Calibri"/>
              </a:rPr>
              <a:t/>
            </a:r>
          </a:p>
          <a:p>
            <a:r>
              <a:rPr sz="1250" b="1" i="0">
                <a:solidFill>
                  <a:srgbClr val="FFFFFF"/>
                </a:solidFill>
                <a:latin typeface="Courier New"/>
              </a:rPr>
              <a:t>git push -u origin feature/short-name</a:t>
            </a:r>
          </a:p>
          <a:p>
            <a:pPr>
              <a:spcAft>
                <a:spcPts val="700"/>
              </a:spcAft>
            </a:pPr>
            <a:r>
              <a:rPr sz="1050" b="0" i="1">
                <a:solidFill>
                  <a:srgbClr val="A9B4F5"/>
                </a:solidFill>
                <a:latin typeface="Calibri"/>
              </a:rPr>
              <a:t/>
            </a:r>
          </a:p>
        </p:txBody>
      </p:sp>
      <p:sp>
        <p:nvSpPr>
          <p:cNvPr id="29" name="Rounded Rectangle 28"/>
          <p:cNvSpPr/>
          <p:nvPr/>
        </p:nvSpPr>
        <p:spPr>
          <a:xfrm>
            <a:off x="5486400" y="1691640"/>
            <a:ext cx="32004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0" y="1691640"/>
            <a:ext cx="288036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Main is protected</a:t>
            </a:r>
          </a:p>
          <a:p>
            <a:r>
              <a:rPr sz="1150" b="0" i="0">
                <a:solidFill>
                  <a:srgbClr val="3B3470"/>
                </a:solidFill>
                <a:latin typeface="Calibri"/>
              </a:rPr>
              <a:t>Every change goes through a pull request.</a:t>
            </a:r>
          </a:p>
        </p:txBody>
      </p:sp>
      <p:sp>
        <p:nvSpPr>
          <p:cNvPr id="31" name="Rounded Rectangle 30"/>
          <p:cNvSpPr/>
          <p:nvPr/>
        </p:nvSpPr>
        <p:spPr>
          <a:xfrm>
            <a:off x="5486400" y="2697480"/>
            <a:ext cx="32004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2697480"/>
            <a:ext cx="288036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Open and merge</a:t>
            </a:r>
          </a:p>
          <a:p>
            <a:r>
              <a:rPr sz="1150" b="0" i="0">
                <a:solidFill>
                  <a:srgbClr val="3B3470"/>
                </a:solidFill>
                <a:latin typeface="Calibri"/>
              </a:rPr>
              <a:t>Then open the link Git prints, create the pull request and merge it.</a:t>
            </a:r>
          </a:p>
        </p:txBody>
      </p:sp>
      <p:sp>
        <p:nvSpPr>
          <p:cNvPr id="33" name="Rounded Rectangle 32"/>
          <p:cNvSpPr/>
          <p:nvPr/>
        </p:nvSpPr>
        <p:spPr>
          <a:xfrm>
            <a:off x="5486400" y="3703320"/>
            <a:ext cx="3200400" cy="9144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0" y="3703320"/>
            <a:ext cx="2880360" cy="914400"/>
          </a:xfrm>
          <a:prstGeom prst="rect">
            <a:avLst/>
          </a:prstGeom>
          <a:noFill/>
        </p:spPr>
        <p:txBody>
          <a:bodyPr wrap="square" lIns="0" tIns="0" rIns="0" bIns="0" anchor="ctr">
            <a:spAutoFit/>
          </a:bodyPr>
          <a:lstStyle/>
          <a:p>
            <a:pPr>
              <a:spcAft>
                <a:spcPts val="200"/>
              </a:spcAft>
            </a:pPr>
            <a:r>
              <a:rPr sz="1300" b="1" i="0">
                <a:solidFill>
                  <a:srgbClr val="2E1B5B"/>
                </a:solidFill>
                <a:latin typeface="Calibri"/>
              </a:rPr>
              <a:t>Never commit .env</a:t>
            </a:r>
          </a:p>
          <a:p>
            <a:r>
              <a:rPr sz="1150" b="0" i="0">
                <a:solidFill>
                  <a:srgbClr val="3B3470"/>
                </a:solidFill>
                <a:latin typeface="Calibri"/>
              </a:rPr>
              <a:t>It holds your IBM Quantum token and is already in .gitignore.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Submission Checklist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60" y="1819656"/>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28" name="TextBox 27"/>
          <p:cNvSpPr txBox="1"/>
          <p:nvPr/>
        </p:nvSpPr>
        <p:spPr>
          <a:xfrm>
            <a:off x="1115568" y="1691640"/>
            <a:ext cx="3291840" cy="640080"/>
          </a:xfrm>
          <a:prstGeom prst="rect">
            <a:avLst/>
          </a:prstGeom>
          <a:noFill/>
        </p:spPr>
        <p:txBody>
          <a:bodyPr wrap="square" lIns="0" tIns="0" rIns="0" bIns="0" anchor="ctr">
            <a:spAutoFit/>
          </a:bodyPr>
          <a:lstStyle/>
          <a:p>
            <a:r>
              <a:rPr sz="1200" b="0" i="0">
                <a:solidFill>
                  <a:srgbClr val="3B3470"/>
                </a:solidFill>
                <a:latin typeface="Calibri"/>
              </a:rPr>
              <a:t>Code is on main and matches origin/main</a:t>
            </a:r>
          </a:p>
        </p:txBody>
      </p:sp>
      <p:sp>
        <p:nvSpPr>
          <p:cNvPr id="29" name="Rounded Rectangle 28"/>
          <p:cNvSpPr/>
          <p:nvPr/>
        </p:nvSpPr>
        <p:spPr>
          <a:xfrm>
            <a:off x="4663440" y="169164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00600" y="1819656"/>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31" name="TextBox 30"/>
          <p:cNvSpPr txBox="1"/>
          <p:nvPr/>
        </p:nvSpPr>
        <p:spPr>
          <a:xfrm>
            <a:off x="5321807" y="1691640"/>
            <a:ext cx="3291840" cy="640080"/>
          </a:xfrm>
          <a:prstGeom prst="rect">
            <a:avLst/>
          </a:prstGeom>
          <a:noFill/>
        </p:spPr>
        <p:txBody>
          <a:bodyPr wrap="square" lIns="0" tIns="0" rIns="0" bIns="0" anchor="ctr">
            <a:spAutoFit/>
          </a:bodyPr>
          <a:lstStyle/>
          <a:p>
            <a:r>
              <a:rPr sz="1200" b="0" i="0">
                <a:solidFill>
                  <a:srgbClr val="3B3470"/>
                </a:solidFill>
                <a:latin typeface="Calibri"/>
              </a:rPr>
              <a:t>Fresh install works: pip install -r requirements.txt in a new venv</a:t>
            </a:r>
          </a:p>
        </p:txBody>
      </p:sp>
      <p:sp>
        <p:nvSpPr>
          <p:cNvPr id="32" name="Rounded Rectangle 31"/>
          <p:cNvSpPr/>
          <p:nvPr/>
        </p:nvSpPr>
        <p:spPr>
          <a:xfrm>
            <a:off x="457200" y="242316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4360" y="2551176"/>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34" name="TextBox 33"/>
          <p:cNvSpPr txBox="1"/>
          <p:nvPr/>
        </p:nvSpPr>
        <p:spPr>
          <a:xfrm>
            <a:off x="1115568" y="2423160"/>
            <a:ext cx="3291840" cy="640080"/>
          </a:xfrm>
          <a:prstGeom prst="rect">
            <a:avLst/>
          </a:prstGeom>
          <a:noFill/>
        </p:spPr>
        <p:txBody>
          <a:bodyPr wrap="square" lIns="0" tIns="0" rIns="0" bIns="0" anchor="ctr">
            <a:spAutoFit/>
          </a:bodyPr>
          <a:lstStyle/>
          <a:p>
            <a:r>
              <a:rPr sz="1200" b="0" i="0">
                <a:solidFill>
                  <a:srgbClr val="3B3470"/>
                </a:solidFill>
                <a:latin typeface="Calibri"/>
              </a:rPr>
              <a:t>All 48 tests pass: python -m pytest -q</a:t>
            </a:r>
          </a:p>
        </p:txBody>
      </p:sp>
      <p:sp>
        <p:nvSpPr>
          <p:cNvPr id="35" name="Rounded Rectangle 34"/>
          <p:cNvSpPr/>
          <p:nvPr/>
        </p:nvSpPr>
        <p:spPr>
          <a:xfrm>
            <a:off x="4663440" y="242316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00600" y="2551176"/>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37" name="TextBox 36"/>
          <p:cNvSpPr txBox="1"/>
          <p:nvPr/>
        </p:nvSpPr>
        <p:spPr>
          <a:xfrm>
            <a:off x="5321807" y="2423160"/>
            <a:ext cx="3291840" cy="640080"/>
          </a:xfrm>
          <a:prstGeom prst="rect">
            <a:avLst/>
          </a:prstGeom>
          <a:noFill/>
        </p:spPr>
        <p:txBody>
          <a:bodyPr wrap="square" lIns="0" tIns="0" rIns="0" bIns="0" anchor="ctr">
            <a:spAutoFit/>
          </a:bodyPr>
          <a:lstStyle/>
          <a:p>
            <a:r>
              <a:rPr sz="1200" b="0" i="0">
                <a:solidFill>
                  <a:srgbClr val="3B3470"/>
                </a:solidFill>
                <a:latin typeface="Calibri"/>
              </a:rPr>
              <a:t>Streamlit app starts and works: streamlit run src/app.py</a:t>
            </a:r>
          </a:p>
        </p:txBody>
      </p:sp>
      <p:sp>
        <p:nvSpPr>
          <p:cNvPr id="38" name="Rounded Rectangle 37"/>
          <p:cNvSpPr/>
          <p:nvPr/>
        </p:nvSpPr>
        <p:spPr>
          <a:xfrm>
            <a:off x="457200" y="315468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4360" y="3282696"/>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40" name="TextBox 39"/>
          <p:cNvSpPr txBox="1"/>
          <p:nvPr/>
        </p:nvSpPr>
        <p:spPr>
          <a:xfrm>
            <a:off x="1115568" y="3154680"/>
            <a:ext cx="3291840" cy="640080"/>
          </a:xfrm>
          <a:prstGeom prst="rect">
            <a:avLst/>
          </a:prstGeom>
          <a:noFill/>
        </p:spPr>
        <p:txBody>
          <a:bodyPr wrap="square" lIns="0" tIns="0" rIns="0" bIns="0" anchor="ctr">
            <a:spAutoFit/>
          </a:bodyPr>
          <a:lstStyle/>
          <a:p>
            <a:r>
              <a:rPr sz="1200" b="0" i="0">
                <a:solidFill>
                  <a:srgbClr val="3B3470"/>
                </a:solidFill>
                <a:latin typeface="Calibri"/>
              </a:rPr>
              <a:t>README has team details, problem, solution, architecture, tech stack and run steps</a:t>
            </a:r>
          </a:p>
        </p:txBody>
      </p:sp>
      <p:sp>
        <p:nvSpPr>
          <p:cNvPr id="41" name="Rounded Rectangle 40"/>
          <p:cNvSpPr/>
          <p:nvPr/>
        </p:nvSpPr>
        <p:spPr>
          <a:xfrm>
            <a:off x="4663440" y="315468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800600" y="3282696"/>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43" name="TextBox 42"/>
          <p:cNvSpPr txBox="1"/>
          <p:nvPr/>
        </p:nvSpPr>
        <p:spPr>
          <a:xfrm>
            <a:off x="5321807" y="3154680"/>
            <a:ext cx="3291840" cy="640080"/>
          </a:xfrm>
          <a:prstGeom prst="rect">
            <a:avLst/>
          </a:prstGeom>
          <a:noFill/>
        </p:spPr>
        <p:txBody>
          <a:bodyPr wrap="square" lIns="0" tIns="0" rIns="0" bIns="0" anchor="ctr">
            <a:spAutoFit/>
          </a:bodyPr>
          <a:lstStyle/>
          <a:p>
            <a:r>
              <a:rPr sz="1200" b="0" i="0">
                <a:solidFill>
                  <a:srgbClr val="3B3470"/>
                </a:solidFill>
                <a:latin typeface="Calibri"/>
              </a:rPr>
              <a:t>.env is not committed; only .env.example is tracked</a:t>
            </a:r>
          </a:p>
        </p:txBody>
      </p:sp>
      <p:sp>
        <p:nvSpPr>
          <p:cNvPr id="44" name="Rounded Rectangle 43"/>
          <p:cNvSpPr/>
          <p:nvPr/>
        </p:nvSpPr>
        <p:spPr>
          <a:xfrm>
            <a:off x="457200" y="3886200"/>
            <a:ext cx="4023360" cy="640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4360" y="4014215"/>
            <a:ext cx="384048" cy="384048"/>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400" b="1" i="0">
                <a:solidFill>
                  <a:srgbClr val="FFFFFF"/>
                </a:solidFill>
                <a:latin typeface="Calibri"/>
              </a:rPr>
              <a:t>✓</a:t>
            </a:r>
          </a:p>
        </p:txBody>
      </p:sp>
      <p:sp>
        <p:nvSpPr>
          <p:cNvPr id="46" name="TextBox 45"/>
          <p:cNvSpPr txBox="1"/>
          <p:nvPr/>
        </p:nvSpPr>
        <p:spPr>
          <a:xfrm>
            <a:off x="1115568" y="3886200"/>
            <a:ext cx="3291840" cy="640080"/>
          </a:xfrm>
          <a:prstGeom prst="rect">
            <a:avLst/>
          </a:prstGeom>
          <a:noFill/>
        </p:spPr>
        <p:txBody>
          <a:bodyPr wrap="square" lIns="0" tIns="0" rIns="0" bIns="0" anchor="ctr">
            <a:spAutoFit/>
          </a:bodyPr>
          <a:lstStyle/>
          <a:p>
            <a:r>
              <a:rPr sz="1200" b="0" i="0">
                <a:solidFill>
                  <a:srgbClr val="3B3470"/>
                </a:solidFill>
                <a:latin typeface="Calibri"/>
              </a:rPr>
              <a:t>LICENSE file is present (MIT)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 Validation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4023360" cy="105156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691640"/>
            <a:ext cx="3611880" cy="1051560"/>
          </a:xfrm>
          <a:prstGeom prst="rect">
            <a:avLst/>
          </a:prstGeom>
          <a:noFill/>
        </p:spPr>
        <p:txBody>
          <a:bodyPr wrap="square" lIns="0" tIns="0" rIns="0" bIns="0" anchor="ctr">
            <a:spAutoFit/>
          </a:bodyPr>
          <a:lstStyle/>
          <a:p>
            <a:pPr>
              <a:spcAft>
                <a:spcPts val="200"/>
              </a:spcAft>
            </a:pPr>
            <a:r>
              <a:rPr sz="1350" b="1" i="0">
                <a:solidFill>
                  <a:srgbClr val="2E1B5B"/>
                </a:solidFill>
                <a:latin typeface="Calibri"/>
              </a:rPr>
              <a:t>Simulation</a:t>
            </a:r>
          </a:p>
          <a:p>
            <a:r>
              <a:rPr sz="1150" b="0" i="0">
                <a:solidFill>
                  <a:srgbClr val="3B3470"/>
                </a:solidFill>
                <a:latin typeface="Calibri"/>
              </a:rPr>
              <a:t>Qiskit AerSimulator with a fitted linear noise model and a classical bit-flip noise model.</a:t>
            </a:r>
          </a:p>
        </p:txBody>
      </p:sp>
      <p:sp>
        <p:nvSpPr>
          <p:cNvPr id="28" name="Rounded Rectangle 27"/>
          <p:cNvSpPr/>
          <p:nvPr/>
        </p:nvSpPr>
        <p:spPr>
          <a:xfrm>
            <a:off x="4663440" y="1691640"/>
            <a:ext cx="4023360" cy="105156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4607" y="1691640"/>
            <a:ext cx="3611880" cy="1051560"/>
          </a:xfrm>
          <a:prstGeom prst="rect">
            <a:avLst/>
          </a:prstGeom>
          <a:noFill/>
        </p:spPr>
        <p:txBody>
          <a:bodyPr wrap="square" lIns="0" tIns="0" rIns="0" bIns="0" anchor="ctr">
            <a:spAutoFit/>
          </a:bodyPr>
          <a:lstStyle/>
          <a:p>
            <a:pPr>
              <a:spcAft>
                <a:spcPts val="200"/>
              </a:spcAft>
            </a:pPr>
            <a:r>
              <a:rPr sz="1350" b="1" i="0">
                <a:solidFill>
                  <a:srgbClr val="2E1B5B"/>
                </a:solidFill>
                <a:latin typeface="Calibri"/>
              </a:rPr>
              <a:t>IBM fake backend</a:t>
            </a:r>
          </a:p>
          <a:p>
            <a:r>
              <a:rPr sz="1150" b="0" i="0">
                <a:solidFill>
                  <a:srgbClr val="3B3470"/>
                </a:solidFill>
                <a:latin typeface="Calibri"/>
              </a:rPr>
              <a:t>BB84 runs compared on FakeSherbrooke.</a:t>
            </a:r>
          </a:p>
        </p:txBody>
      </p:sp>
      <p:sp>
        <p:nvSpPr>
          <p:cNvPr id="30" name="Rounded Rectangle 29"/>
          <p:cNvSpPr/>
          <p:nvPr/>
        </p:nvSpPr>
        <p:spPr>
          <a:xfrm>
            <a:off x="457200" y="2880360"/>
            <a:ext cx="4023360" cy="105156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2880360"/>
            <a:ext cx="3611880" cy="1051560"/>
          </a:xfrm>
          <a:prstGeom prst="rect">
            <a:avLst/>
          </a:prstGeom>
          <a:noFill/>
        </p:spPr>
        <p:txBody>
          <a:bodyPr wrap="square" lIns="0" tIns="0" rIns="0" bIns="0" anchor="ctr">
            <a:spAutoFit/>
          </a:bodyPr>
          <a:lstStyle/>
          <a:p>
            <a:pPr>
              <a:spcAft>
                <a:spcPts val="200"/>
              </a:spcAft>
            </a:pPr>
            <a:r>
              <a:rPr sz="1350" b="1" i="0">
                <a:solidFill>
                  <a:srgbClr val="2E1B5B"/>
                </a:solidFill>
                <a:latin typeface="Calibri"/>
              </a:rPr>
              <a:t>Real IBM hardware</a:t>
            </a:r>
          </a:p>
          <a:p>
            <a:r>
              <a:rPr sz="1150" b="0" i="0">
                <a:solidFill>
                  <a:srgbClr val="3B3470"/>
                </a:solidFill>
                <a:latin typeface="Calibri"/>
              </a:rPr>
              <a:t>A batch validated on a real IBM backend via Qiskit Runtime (SamplerV2); Eve can also run on real hardware.</a:t>
            </a:r>
          </a:p>
        </p:txBody>
      </p:sp>
      <p:sp>
        <p:nvSpPr>
          <p:cNvPr id="32" name="Rounded Rectangle 31"/>
          <p:cNvSpPr/>
          <p:nvPr/>
        </p:nvSpPr>
        <p:spPr>
          <a:xfrm>
            <a:off x="4663440" y="2880360"/>
            <a:ext cx="4023360" cy="105156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64607" y="2880360"/>
            <a:ext cx="3611880" cy="1051560"/>
          </a:xfrm>
          <a:prstGeom prst="rect">
            <a:avLst/>
          </a:prstGeom>
          <a:noFill/>
        </p:spPr>
        <p:txBody>
          <a:bodyPr wrap="square" lIns="0" tIns="0" rIns="0" bIns="0" anchor="ctr">
            <a:spAutoFit/>
          </a:bodyPr>
          <a:lstStyle/>
          <a:p>
            <a:pPr>
              <a:spcAft>
                <a:spcPts val="200"/>
              </a:spcAft>
            </a:pPr>
            <a:r>
              <a:rPr sz="1350" b="1" i="0">
                <a:solidFill>
                  <a:srgbClr val="2E1B5B"/>
                </a:solidFill>
                <a:latin typeface="Calibri"/>
              </a:rPr>
              <a:t>Saved results</a:t>
            </a:r>
          </a:p>
          <a:p>
            <a:r>
              <a:rPr sz="1150" b="0" i="0">
                <a:solidFill>
                  <a:srgbClr val="3B3470"/>
                </a:solidFill>
                <a:latin typeface="Calibri"/>
              </a:rPr>
              <a:t>results/ holds hardware job IDs and QBER, sweep data and charts; QBER-vs-noise table and simulator vs hardware comparison scripts.</a:t>
            </a:r>
          </a:p>
        </p:txBody>
      </p:sp>
      <p:sp>
        <p:nvSpPr>
          <p:cNvPr id="34" name="Rounded Rectangle 33"/>
          <p:cNvSpPr/>
          <p:nvPr/>
        </p:nvSpPr>
        <p:spPr>
          <a:xfrm>
            <a:off x="457200" y="4114800"/>
            <a:ext cx="8229600" cy="502920"/>
          </a:xfrm>
          <a:prstGeom prst="roundRect">
            <a:avLst>
              <a:gd name="adj" fmla="val 1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0" rIns="182880" bIns="0"/>
          <a:lstStyle/>
          <a:p>
            <a:pPr algn="l"/>
            <a:r>
              <a:rPr sz="1800" b="1" i="0">
                <a:solidFill>
                  <a:srgbClr val="E8639F"/>
                </a:solidFill>
                <a:latin typeface="Georgia"/>
              </a:rPr>
              <a:t>48</a:t>
            </a:r>
            <a:r>
              <a:rPr sz="1300" b="1" i="0">
                <a:solidFill>
                  <a:srgbClr val="FFFFFF"/>
                </a:solidFill>
                <a:latin typeface="Calibri"/>
              </a:rPr>
              <a:t>   unit tests passing  ·  python -m pytest -q</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Resources &amp; License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Rounded Rectangle 25"/>
          <p:cNvSpPr/>
          <p:nvPr/>
        </p:nvSpPr>
        <p:spPr>
          <a:xfrm>
            <a:off x="457200" y="1691640"/>
            <a:ext cx="5394960" cy="658368"/>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1691640"/>
            <a:ext cx="5029200" cy="658368"/>
          </a:xfrm>
          <a:prstGeom prst="rect">
            <a:avLst/>
          </a:prstGeom>
          <a:noFill/>
        </p:spPr>
        <p:txBody>
          <a:bodyPr wrap="square" lIns="0" tIns="0" rIns="0" bIns="0" anchor="ctr">
            <a:spAutoFit/>
          </a:bodyPr>
          <a:lstStyle/>
          <a:p>
            <a:r>
              <a:rPr sz="1300" b="1" i="0">
                <a:solidFill>
                  <a:srgbClr val="2E1B5B"/>
                </a:solidFill>
                <a:latin typeface="Calibri"/>
              </a:rPr>
              <a:t>Qiskit and IBM Quantum documentation</a:t>
            </a:r>
          </a:p>
          <a:p>
            <a:r>
              <a:rPr sz="1100" b="0" i="0">
                <a:solidFill>
                  <a:srgbClr val="5B3BA8"/>
                </a:solidFill>
                <a:latin typeface="Calibri"/>
                <a:hlinkClick r:id="rId2"/>
              </a:rPr>
              <a:t>https://quantum.cloud.ibm.com/docs</a:t>
            </a:r>
          </a:p>
        </p:txBody>
      </p:sp>
      <p:sp>
        <p:nvSpPr>
          <p:cNvPr id="28" name="Rounded Rectangle 27"/>
          <p:cNvSpPr/>
          <p:nvPr/>
        </p:nvSpPr>
        <p:spPr>
          <a:xfrm>
            <a:off x="457200" y="2441448"/>
            <a:ext cx="5394960" cy="658368"/>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2441448"/>
            <a:ext cx="5029200" cy="658368"/>
          </a:xfrm>
          <a:prstGeom prst="rect">
            <a:avLst/>
          </a:prstGeom>
          <a:noFill/>
        </p:spPr>
        <p:txBody>
          <a:bodyPr wrap="square" lIns="0" tIns="0" rIns="0" bIns="0" anchor="ctr">
            <a:spAutoFit/>
          </a:bodyPr>
          <a:lstStyle/>
          <a:p>
            <a:r>
              <a:rPr sz="1300" b="1" i="0">
                <a:solidFill>
                  <a:srgbClr val="2E1B5B"/>
                </a:solidFill>
                <a:latin typeface="Calibri"/>
              </a:rPr>
              <a:t>Qiskit Aer</a:t>
            </a:r>
          </a:p>
          <a:p>
            <a:r>
              <a:rPr sz="1100" b="0" i="0">
                <a:solidFill>
                  <a:srgbClr val="5B3BA8"/>
                </a:solidFill>
                <a:latin typeface="Calibri"/>
                <a:hlinkClick r:id="rId3"/>
              </a:rPr>
              <a:t>https://qiskit.github.io/qiskit-aer/</a:t>
            </a:r>
          </a:p>
        </p:txBody>
      </p:sp>
      <p:sp>
        <p:nvSpPr>
          <p:cNvPr id="30" name="Rounded Rectangle 29"/>
          <p:cNvSpPr/>
          <p:nvPr/>
        </p:nvSpPr>
        <p:spPr>
          <a:xfrm>
            <a:off x="457200" y="3191256"/>
            <a:ext cx="5394960" cy="658368"/>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191256"/>
            <a:ext cx="5029200" cy="658368"/>
          </a:xfrm>
          <a:prstGeom prst="rect">
            <a:avLst/>
          </a:prstGeom>
          <a:noFill/>
        </p:spPr>
        <p:txBody>
          <a:bodyPr wrap="square" lIns="0" tIns="0" rIns="0" bIns="0" anchor="ctr">
            <a:spAutoFit/>
          </a:bodyPr>
          <a:lstStyle/>
          <a:p>
            <a:r>
              <a:rPr sz="1300" b="1" i="0">
                <a:solidFill>
                  <a:srgbClr val="2E1B5B"/>
                </a:solidFill>
                <a:latin typeface="Calibri"/>
              </a:rPr>
              <a:t>Streamlit documentation</a:t>
            </a:r>
          </a:p>
          <a:p>
            <a:r>
              <a:rPr sz="1100" b="0" i="0">
                <a:solidFill>
                  <a:srgbClr val="5B3BA8"/>
                </a:solidFill>
                <a:latin typeface="Calibri"/>
                <a:hlinkClick r:id="rId4"/>
              </a:rPr>
              <a:t>https://docs.streamlit.io</a:t>
            </a:r>
          </a:p>
        </p:txBody>
      </p:sp>
      <p:sp>
        <p:nvSpPr>
          <p:cNvPr id="32" name="Rounded Rectangle 31"/>
          <p:cNvSpPr/>
          <p:nvPr/>
        </p:nvSpPr>
        <p:spPr>
          <a:xfrm>
            <a:off x="457200" y="3941064"/>
            <a:ext cx="5394960" cy="658368"/>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3941064"/>
            <a:ext cx="5029200" cy="658368"/>
          </a:xfrm>
          <a:prstGeom prst="rect">
            <a:avLst/>
          </a:prstGeom>
          <a:noFill/>
        </p:spPr>
        <p:txBody>
          <a:bodyPr wrap="square" lIns="0" tIns="0" rIns="0" bIns="0" anchor="ctr">
            <a:spAutoFit/>
          </a:bodyPr>
          <a:lstStyle/>
          <a:p>
            <a:r>
              <a:rPr sz="1300" b="1" i="0">
                <a:solidFill>
                  <a:srgbClr val="2E1B5B"/>
                </a:solidFill>
                <a:latin typeface="Calibri"/>
              </a:rPr>
              <a:t>BB84 protocol (Wikipedia)</a:t>
            </a:r>
          </a:p>
          <a:p>
            <a:r>
              <a:rPr sz="1100" b="0" i="0">
                <a:solidFill>
                  <a:srgbClr val="5B3BA8"/>
                </a:solidFill>
                <a:latin typeface="Calibri"/>
                <a:hlinkClick r:id="rId5"/>
              </a:rPr>
              <a:t>https://en.wikipedia.org/wiki/BB84</a:t>
            </a:r>
          </a:p>
        </p:txBody>
      </p:sp>
      <p:sp>
        <p:nvSpPr>
          <p:cNvPr id="34" name="Rounded Rectangle 33"/>
          <p:cNvSpPr/>
          <p:nvPr/>
        </p:nvSpPr>
        <p:spPr>
          <a:xfrm>
            <a:off x="6035040" y="1691640"/>
            <a:ext cx="2651760" cy="2926080"/>
          </a:xfrm>
          <a:prstGeom prst="roundRect">
            <a:avLst>
              <a:gd name="adj" fmla="val 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91440" rIns="182880" bIns="91440"/>
          <a:lstStyle/>
          <a:p>
            <a:pPr algn="l">
              <a:spcAft>
                <a:spcPts val="400"/>
              </a:spcAft>
            </a:pPr>
            <a:r>
              <a:rPr sz="950" b="1" i="0" spc="100">
                <a:solidFill>
                  <a:srgbClr val="F4B6D2"/>
                </a:solidFill>
                <a:latin typeface="Calibri"/>
              </a:rPr>
              <a:t>LICENSE</a:t>
            </a:r>
          </a:p>
          <a:p>
            <a:pPr algn="l">
              <a:spcAft>
                <a:spcPts val="400"/>
              </a:spcAft>
            </a:pPr>
            <a:r>
              <a:rPr sz="3600" b="1" i="0">
                <a:solidFill>
                  <a:srgbClr val="FFFFFF"/>
                </a:solidFill>
                <a:latin typeface="Georgia"/>
              </a:rPr>
              <a:t>MIT</a:t>
            </a:r>
          </a:p>
          <a:p>
            <a:pPr algn="l"/>
            <a:r>
              <a:rPr sz="1200" b="0" i="0">
                <a:solidFill>
                  <a:srgbClr val="FFFFFF"/>
                </a:solidFill>
                <a:latin typeface="Calibri"/>
              </a:rPr>
              <a:t>This project is released under the MIT License. See the LICENSE file.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
        <p:nvSpPr>
          <p:cNvPr id="26" name="Rounded Rectangle 25"/>
          <p:cNvSpPr/>
          <p:nvPr/>
        </p:nvSpPr>
        <p:spPr>
          <a:xfrm>
            <a:off x="457200" y="1691640"/>
            <a:ext cx="4023360" cy="233172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810512"/>
            <a:ext cx="3657600" cy="182880"/>
          </a:xfrm>
          <a:prstGeom prst="rect">
            <a:avLst/>
          </a:prstGeom>
          <a:noFill/>
        </p:spPr>
        <p:txBody>
          <a:bodyPr wrap="square" lIns="0" tIns="0" rIns="0" bIns="0" anchor="t">
            <a:spAutoFit/>
          </a:bodyPr>
          <a:lstStyle/>
          <a:p>
            <a:r>
              <a:rPr sz="950" b="1" i="0" spc="100">
                <a:solidFill>
                  <a:srgbClr val="5B3BA8"/>
                </a:solidFill>
                <a:latin typeface="Calibri"/>
              </a:rPr>
              <a:t>OBJECTIVES</a:t>
            </a:r>
          </a:p>
        </p:txBody>
      </p:sp>
      <p:sp>
        <p:nvSpPr>
          <p:cNvPr id="28" name="TextBox 27"/>
          <p:cNvSpPr txBox="1"/>
          <p:nvPr/>
        </p:nvSpPr>
        <p:spPr>
          <a:xfrm>
            <a:off x="658368" y="2057400"/>
            <a:ext cx="3657600" cy="1920240"/>
          </a:xfrm>
          <a:prstGeom prst="rect">
            <a:avLst/>
          </a:prstGeom>
          <a:noFill/>
        </p:spPr>
        <p:txBody>
          <a:bodyPr wrap="square" lIns="0" tIns="0" rIns="0" bIns="0" anchor="t">
            <a:spAutoFit/>
          </a:bodyPr>
          <a:lstStyle/>
          <a:p>
            <a:pPr marL="155448" indent="-155448">
              <a:spcAft>
                <a:spcPts val="400"/>
              </a:spcAft>
              <a:buClr>
                <a:srgbClr val="E8639F"/>
              </a:buClr>
              <a:buFont typeface="Arial"/>
              <a:buChar char="•"/>
            </a:pPr>
            <a:r>
              <a:rPr sz="1200" b="0" i="0">
                <a:solidFill>
                  <a:srgbClr val="3B3470"/>
                </a:solidFill>
                <a:latin typeface="Calibri"/>
              </a:rPr>
              <a:t>Tell channel noise apart from eavesdropping</a:t>
            </a:r>
          </a:p>
          <a:p>
            <a:pPr marL="155448" indent="-155448">
              <a:spcAft>
                <a:spcPts val="400"/>
              </a:spcAft>
              <a:buClr>
                <a:srgbClr val="E8639F"/>
              </a:buClr>
              <a:buFont typeface="Arial"/>
              <a:buChar char="•"/>
            </a:pPr>
            <a:r>
              <a:rPr sz="1200" b="0" i="0">
                <a:solidFill>
                  <a:srgbClr val="3B3470"/>
                </a:solidFill>
                <a:latin typeface="Calibri"/>
              </a:rPr>
              <a:t>Return a clear verdict: safe, noisy but usable, or compromised</a:t>
            </a:r>
          </a:p>
          <a:p>
            <a:pPr marL="155448" indent="-155448">
              <a:spcAft>
                <a:spcPts val="400"/>
              </a:spcAft>
              <a:buClr>
                <a:srgbClr val="E8639F"/>
              </a:buClr>
              <a:buFont typeface="Arial"/>
              <a:buChar char="•"/>
            </a:pPr>
            <a:r>
              <a:rPr sz="1200" b="0" i="0">
                <a:solidFill>
                  <a:srgbClr val="3B3470"/>
                </a:solidFill>
                <a:latin typeface="Calibri"/>
              </a:rPr>
              <a:t>Shorten the key on noise; discard it and block messaging if an eavesdropper is detected</a:t>
            </a:r>
          </a:p>
          <a:p>
            <a:pPr marL="155448" indent="-155448">
              <a:spcAft>
                <a:spcPts val="400"/>
              </a:spcAft>
              <a:buClr>
                <a:srgbClr val="E8639F"/>
              </a:buClr>
              <a:buFont typeface="Arial"/>
              <a:buChar char="•"/>
            </a:pPr>
            <a:r>
              <a:rPr sz="1200" b="0" i="0">
                <a:solidFill>
                  <a:srgbClr val="3B3470"/>
                </a:solidFill>
                <a:latin typeface="Calibri"/>
              </a:rPr>
              <a:t>Show the full path from quantum key exchange to protected communication, live</a:t>
            </a:r>
          </a:p>
          <a:p>
            <a:pPr marL="155448" indent="-155448">
              <a:buClr>
                <a:srgbClr val="E8639F"/>
              </a:buClr>
              <a:buFont typeface="Arial"/>
              <a:buChar char="•"/>
            </a:pPr>
            <a:r>
              <a:rPr sz="1200" b="0" i="0">
                <a:solidFill>
                  <a:srgbClr val="3B3470"/>
                </a:solidFill>
                <a:latin typeface="Calibri"/>
              </a:rPr>
              <a:t>Let teams judge a channel before investing in QKD hardware</a:t>
            </a:r>
          </a:p>
        </p:txBody>
      </p:sp>
      <p:sp>
        <p:nvSpPr>
          <p:cNvPr id="29" name="Rounded Rectangle 28"/>
          <p:cNvSpPr/>
          <p:nvPr/>
        </p:nvSpPr>
        <p:spPr>
          <a:xfrm>
            <a:off x="4663440" y="1691640"/>
            <a:ext cx="4023360" cy="233172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64608" y="1810512"/>
            <a:ext cx="3657600" cy="182880"/>
          </a:xfrm>
          <a:prstGeom prst="rect">
            <a:avLst/>
          </a:prstGeom>
          <a:noFill/>
        </p:spPr>
        <p:txBody>
          <a:bodyPr wrap="square" lIns="0" tIns="0" rIns="0" bIns="0" anchor="t">
            <a:spAutoFit/>
          </a:bodyPr>
          <a:lstStyle/>
          <a:p>
            <a:r>
              <a:rPr sz="950" b="1" i="0" spc="100">
                <a:solidFill>
                  <a:srgbClr val="5B3BA8"/>
                </a:solidFill>
                <a:latin typeface="Calibri"/>
              </a:rPr>
              <a:t>NOVELTY</a:t>
            </a:r>
          </a:p>
        </p:txBody>
      </p:sp>
      <p:sp>
        <p:nvSpPr>
          <p:cNvPr id="31" name="TextBox 30"/>
          <p:cNvSpPr txBox="1"/>
          <p:nvPr/>
        </p:nvSpPr>
        <p:spPr>
          <a:xfrm>
            <a:off x="4864608" y="2057400"/>
            <a:ext cx="3657600" cy="1920240"/>
          </a:xfrm>
          <a:prstGeom prst="rect">
            <a:avLst/>
          </a:prstGeom>
          <a:noFill/>
        </p:spPr>
        <p:txBody>
          <a:bodyPr wrap="square" lIns="0" tIns="0" rIns="0" bIns="0" anchor="t">
            <a:spAutoFit/>
          </a:bodyPr>
          <a:lstStyle/>
          <a:p>
            <a:pPr marL="155448" indent="-155448">
              <a:spcAft>
                <a:spcPts val="400"/>
              </a:spcAft>
              <a:buClr>
                <a:srgbClr val="E8639F"/>
              </a:buClr>
              <a:buFont typeface="Arial"/>
              <a:buChar char="•"/>
            </a:pPr>
            <a:r>
              <a:rPr sz="1200" b="0" i="0">
                <a:solidFill>
                  <a:srgbClr val="3B3470"/>
                </a:solidFill>
                <a:latin typeface="Calibri"/>
              </a:rPr>
              <a:t>Channel Trust Meter compares observed QBER with the QBER expected from the known noise profile</a:t>
            </a:r>
          </a:p>
          <a:p>
            <a:pPr marL="155448" indent="-155448">
              <a:spcAft>
                <a:spcPts val="400"/>
              </a:spcAft>
              <a:buClr>
                <a:srgbClr val="E8639F"/>
              </a:buClr>
              <a:buFont typeface="Arial"/>
              <a:buChar char="•"/>
            </a:pPr>
            <a:r>
              <a:rPr sz="1200" b="0" i="0">
                <a:solidFill>
                  <a:srgbClr val="3B3470"/>
                </a:solidFill>
                <a:latin typeface="Calibri"/>
              </a:rPr>
              <a:t>Noise model fitted to simulated sweeps shows how ordinary noise differs from an attack</a:t>
            </a:r>
          </a:p>
          <a:p>
            <a:pPr marL="155448" indent="-155448">
              <a:spcAft>
                <a:spcPts val="400"/>
              </a:spcAft>
              <a:buClr>
                <a:srgbClr val="E8639F"/>
              </a:buClr>
              <a:buFont typeface="Arial"/>
              <a:buChar char="•"/>
            </a:pPr>
            <a:r>
              <a:rPr sz="1200" b="0" i="0">
                <a:solidFill>
                  <a:srgbClr val="3B3470"/>
                </a:solidFill>
                <a:latin typeface="Calibri"/>
              </a:rPr>
              <a:t>Key length adapts automatically to channel quality</a:t>
            </a:r>
          </a:p>
          <a:p>
            <a:pPr marL="155448" indent="-155448">
              <a:buClr>
                <a:srgbClr val="E8639F"/>
              </a:buClr>
              <a:buFont typeface="Arial"/>
              <a:buChar char="•"/>
            </a:pPr>
            <a:r>
              <a:rPr sz="1200" b="0" i="0">
                <a:solidFill>
                  <a:srgbClr val="3B3470"/>
                </a:solidFill>
                <a:latin typeface="Calibri"/>
              </a:rPr>
              <a:t>A batch is validated on real IBM hardware</a:t>
            </a:r>
          </a:p>
        </p:txBody>
      </p:sp>
      <p:sp>
        <p:nvSpPr>
          <p:cNvPr id="32" name="Rounded Rectangle 31"/>
          <p:cNvSpPr/>
          <p:nvPr/>
        </p:nvSpPr>
        <p:spPr>
          <a:xfrm>
            <a:off x="457200" y="4133087"/>
            <a:ext cx="8229600" cy="502920"/>
          </a:xfrm>
          <a:prstGeom prst="roundRect">
            <a:avLst>
              <a:gd name="adj" fmla="val 15000"/>
            </a:avLst>
          </a:prstGeom>
          <a:solidFill>
            <a:srgbClr val="EEF0FE"/>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rIns="182880" bIns="0"/>
          <a:lstStyle/>
          <a:p>
            <a:pPr algn="l"/>
            <a:r>
              <a:rPr sz="1000" b="1" i="0" spc="100">
                <a:solidFill>
                  <a:srgbClr val="E8639F"/>
                </a:solidFill>
                <a:latin typeface="Calibri"/>
              </a:rPr>
              <a:t>KEY IDEA  </a:t>
            </a:r>
            <a:r>
              <a:rPr sz="1150" b="1" i="0">
                <a:solidFill>
                  <a:srgbClr val="2E1B5B"/>
                </a:solidFill>
                <a:latin typeface="Calibri"/>
              </a:rPr>
              <a:t>A quantum-key secure chat that tells channel noise apart from eavesdropping and automatically shortens the key or blocks messaging to stay safe on noisy real-world links.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
        <p:nvSpPr>
          <p:cNvPr id="26" name="Rounded Rectangle 25"/>
          <p:cNvSpPr/>
          <p:nvPr/>
        </p:nvSpPr>
        <p:spPr>
          <a:xfrm>
            <a:off x="457200" y="1691640"/>
            <a:ext cx="502920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810512"/>
            <a:ext cx="4572000" cy="182880"/>
          </a:xfrm>
          <a:prstGeom prst="rect">
            <a:avLst/>
          </a:prstGeom>
          <a:noFill/>
        </p:spPr>
        <p:txBody>
          <a:bodyPr wrap="square" lIns="0" tIns="0" rIns="0" bIns="0" anchor="t">
            <a:spAutoFit/>
          </a:bodyPr>
          <a:lstStyle/>
          <a:p>
            <a:r>
              <a:rPr sz="950" b="1" i="0" spc="100">
                <a:solidFill>
                  <a:srgbClr val="5B3BA8"/>
                </a:solidFill>
                <a:latin typeface="Calibri"/>
              </a:rPr>
              <a:t>PROPOSED SOLUTION: QUANTAGUARD CHAT</a:t>
            </a:r>
          </a:p>
        </p:txBody>
      </p:sp>
      <p:sp>
        <p:nvSpPr>
          <p:cNvPr id="28" name="TextBox 27"/>
          <p:cNvSpPr txBox="1"/>
          <p:nvPr/>
        </p:nvSpPr>
        <p:spPr>
          <a:xfrm>
            <a:off x="658368" y="2048256"/>
            <a:ext cx="4617720" cy="1554480"/>
          </a:xfrm>
          <a:prstGeom prst="rect">
            <a:avLst/>
          </a:prstGeom>
          <a:noFill/>
        </p:spPr>
        <p:txBody>
          <a:bodyPr wrap="square" lIns="0" tIns="0" rIns="0" bIns="0" anchor="t">
            <a:spAutoFit/>
          </a:bodyPr>
          <a:lstStyle/>
          <a:p>
            <a:r>
              <a:rPr sz="1200" b="0" i="0">
                <a:solidFill>
                  <a:srgbClr val="3B3470"/>
                </a:solidFill>
                <a:latin typeface="Calibri"/>
              </a:rPr>
              <a:t>QuantaGuard Chat is a Qiskit-based secure chat that generates encryption keys with the BB84 quantum protocol, simulates channel noise (a linear model fitted to simulated sweeps) on the Qiskit Aer simulator, and uses a Channel Trust Meter to classify the link as safe, noisy but usable, or compromised. Noise automatically shortens the key, and a detected eavesdropper discards the key and blocks messaging.</a:t>
            </a:r>
          </a:p>
        </p:txBody>
      </p:sp>
      <p:sp>
        <p:nvSpPr>
          <p:cNvPr id="29" name="TextBox 28"/>
          <p:cNvSpPr txBox="1"/>
          <p:nvPr/>
        </p:nvSpPr>
        <p:spPr>
          <a:xfrm>
            <a:off x="658368" y="3639312"/>
            <a:ext cx="4572000" cy="182880"/>
          </a:xfrm>
          <a:prstGeom prst="rect">
            <a:avLst/>
          </a:prstGeom>
          <a:noFill/>
        </p:spPr>
        <p:txBody>
          <a:bodyPr wrap="square" lIns="0" tIns="0" rIns="0" bIns="0" anchor="t">
            <a:spAutoFit/>
          </a:bodyPr>
          <a:lstStyle/>
          <a:p>
            <a:r>
              <a:rPr sz="950" b="1" i="0" spc="100">
                <a:solidFill>
                  <a:srgbClr val="E8639F"/>
                </a:solidFill>
                <a:latin typeface="Calibri"/>
              </a:rPr>
              <a:t>KEY IDEA</a:t>
            </a:r>
          </a:p>
        </p:txBody>
      </p:sp>
      <p:sp>
        <p:nvSpPr>
          <p:cNvPr id="30" name="TextBox 29"/>
          <p:cNvSpPr txBox="1"/>
          <p:nvPr/>
        </p:nvSpPr>
        <p:spPr>
          <a:xfrm>
            <a:off x="658368" y="3840480"/>
            <a:ext cx="4617720" cy="731520"/>
          </a:xfrm>
          <a:prstGeom prst="rect">
            <a:avLst/>
          </a:prstGeom>
          <a:noFill/>
        </p:spPr>
        <p:txBody>
          <a:bodyPr wrap="square" lIns="0" tIns="0" rIns="0" bIns="0" anchor="t">
            <a:spAutoFit/>
          </a:bodyPr>
          <a:lstStyle/>
          <a:p>
            <a:r>
              <a:rPr sz="1200" b="1" i="0">
                <a:solidFill>
                  <a:srgbClr val="2E1B5B"/>
                </a:solidFill>
                <a:latin typeface="Calibri"/>
              </a:rPr>
              <a:t>A quantum-key secure chat that tells channel noise apart from eavesdropping and automatically shortens the key or blocks messaging to stay safe on noisy real-world links.</a:t>
            </a:r>
          </a:p>
        </p:txBody>
      </p:sp>
      <p:sp>
        <p:nvSpPr>
          <p:cNvPr id="31" name="Rounded Rectangle 30"/>
          <p:cNvSpPr/>
          <p:nvPr/>
        </p:nvSpPr>
        <p:spPr>
          <a:xfrm>
            <a:off x="5669280" y="1691640"/>
            <a:ext cx="3017520" cy="8686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06440" y="1691640"/>
            <a:ext cx="1188720" cy="868680"/>
          </a:xfrm>
          <a:prstGeom prst="rect">
            <a:avLst/>
          </a:prstGeom>
          <a:noFill/>
        </p:spPr>
        <p:txBody>
          <a:bodyPr wrap="square" lIns="0" tIns="0" rIns="0" bIns="0" anchor="ctr">
            <a:spAutoFit/>
          </a:bodyPr>
          <a:lstStyle/>
          <a:p>
            <a:r>
              <a:rPr sz="2800" b="1" i="0">
                <a:solidFill>
                  <a:srgbClr val="E8639F"/>
                </a:solidFill>
                <a:latin typeface="Georgia"/>
              </a:rPr>
              <a:t>~25%</a:t>
            </a:r>
          </a:p>
        </p:txBody>
      </p:sp>
      <p:sp>
        <p:nvSpPr>
          <p:cNvPr id="33" name="TextBox 32"/>
          <p:cNvSpPr txBox="1"/>
          <p:nvPr/>
        </p:nvSpPr>
        <p:spPr>
          <a:xfrm>
            <a:off x="6995160" y="1691640"/>
            <a:ext cx="1600200" cy="868680"/>
          </a:xfrm>
          <a:prstGeom prst="rect">
            <a:avLst/>
          </a:prstGeom>
          <a:noFill/>
        </p:spPr>
        <p:txBody>
          <a:bodyPr wrap="square" lIns="0" tIns="0" rIns="0" bIns="0" anchor="ctr">
            <a:spAutoFit/>
          </a:bodyPr>
          <a:lstStyle/>
          <a:p>
            <a:r>
              <a:rPr sz="1150" b="1" i="0">
                <a:solidFill>
                  <a:srgbClr val="2E1B5B"/>
                </a:solidFill>
                <a:latin typeface="Calibri"/>
              </a:rPr>
              <a:t>QBER under an intercept-resend attack</a:t>
            </a:r>
          </a:p>
        </p:txBody>
      </p:sp>
      <p:sp>
        <p:nvSpPr>
          <p:cNvPr id="34" name="Rounded Rectangle 33"/>
          <p:cNvSpPr/>
          <p:nvPr/>
        </p:nvSpPr>
        <p:spPr>
          <a:xfrm>
            <a:off x="5669280" y="2679192"/>
            <a:ext cx="3017520" cy="8686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06440" y="2679192"/>
            <a:ext cx="1188720" cy="868680"/>
          </a:xfrm>
          <a:prstGeom prst="rect">
            <a:avLst/>
          </a:prstGeom>
          <a:noFill/>
        </p:spPr>
        <p:txBody>
          <a:bodyPr wrap="square" lIns="0" tIns="0" rIns="0" bIns="0" anchor="ctr">
            <a:spAutoFit/>
          </a:bodyPr>
          <a:lstStyle/>
          <a:p>
            <a:r>
              <a:rPr sz="2800" b="1" i="0">
                <a:solidFill>
                  <a:srgbClr val="5B3BA8"/>
                </a:solidFill>
                <a:latin typeface="Georgia"/>
              </a:rPr>
              <a:t>~11%</a:t>
            </a:r>
          </a:p>
        </p:txBody>
      </p:sp>
      <p:sp>
        <p:nvSpPr>
          <p:cNvPr id="36" name="TextBox 35"/>
          <p:cNvSpPr txBox="1"/>
          <p:nvPr/>
        </p:nvSpPr>
        <p:spPr>
          <a:xfrm>
            <a:off x="6995160" y="2679192"/>
            <a:ext cx="1600200" cy="868680"/>
          </a:xfrm>
          <a:prstGeom prst="rect">
            <a:avLst/>
          </a:prstGeom>
          <a:noFill/>
        </p:spPr>
        <p:txBody>
          <a:bodyPr wrap="square" lIns="0" tIns="0" rIns="0" bIns="0" anchor="ctr">
            <a:spAutoFit/>
          </a:bodyPr>
          <a:lstStyle/>
          <a:p>
            <a:r>
              <a:rPr sz="1150" b="1" i="0">
                <a:solidFill>
                  <a:srgbClr val="2E1B5B"/>
                </a:solidFill>
                <a:latin typeface="Calibri"/>
              </a:rPr>
              <a:t>BB84 safety limit for QBER</a:t>
            </a:r>
          </a:p>
        </p:txBody>
      </p:sp>
      <p:sp>
        <p:nvSpPr>
          <p:cNvPr id="37" name="Rounded Rectangle 36"/>
          <p:cNvSpPr/>
          <p:nvPr/>
        </p:nvSpPr>
        <p:spPr>
          <a:xfrm>
            <a:off x="5669280" y="3666744"/>
            <a:ext cx="3017520" cy="950976"/>
          </a:xfrm>
          <a:prstGeom prst="roundRect">
            <a:avLst>
              <a:gd name="adj" fmla="val 8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a:lstStyle/>
          <a:p>
            <a:pPr algn="l">
              <a:spcAft>
                <a:spcPts val="200"/>
              </a:spcAft>
            </a:pPr>
            <a:r>
              <a:rPr sz="950" b="1" i="0" spc="100">
                <a:solidFill>
                  <a:srgbClr val="F4B6D2"/>
                </a:solidFill>
                <a:latin typeface="Calibri"/>
              </a:rPr>
              <a:t>QUANTUM ADVANTAGE</a:t>
            </a:r>
          </a:p>
          <a:p>
            <a:pPr algn="l"/>
            <a:r>
              <a:rPr sz="1150" b="1" i="0">
                <a:solidFill>
                  <a:srgbClr val="FFFFFF"/>
                </a:solidFill>
                <a:latin typeface="Calibri"/>
              </a:rPr>
              <a:t>Security rests on quantum physics, not on encryption math that future computers may break.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sp>
        <p:nvSpPr>
          <p:cNvPr id="26" name="Rounded Rectangle 25"/>
          <p:cNvSpPr/>
          <p:nvPr/>
        </p:nvSpPr>
        <p:spPr>
          <a:xfrm>
            <a:off x="457200" y="1691640"/>
            <a:ext cx="4937760" cy="2926080"/>
          </a:xfrm>
          <a:prstGeom prst="roundRect">
            <a:avLst>
              <a:gd name="adj" fmla="val 2500"/>
            </a:avLst>
          </a:prstGeom>
          <a:solidFill>
            <a:srgbClr val="EEF0FE"/>
          </a:solidFill>
          <a:ln w="15875">
            <a:solidFill>
              <a:srgbClr val="7C93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801368"/>
            <a:ext cx="4572000" cy="182880"/>
          </a:xfrm>
          <a:prstGeom prst="rect">
            <a:avLst/>
          </a:prstGeom>
          <a:noFill/>
        </p:spPr>
        <p:txBody>
          <a:bodyPr wrap="square" lIns="0" tIns="0" rIns="0" bIns="0" anchor="t">
            <a:spAutoFit/>
          </a:bodyPr>
          <a:lstStyle/>
          <a:p>
            <a:r>
              <a:rPr sz="950" b="1" i="0" spc="100">
                <a:solidFill>
                  <a:srgbClr val="5B3BA8"/>
                </a:solidFill>
                <a:latin typeface="Calibri"/>
              </a:rPr>
              <a:t>BB84 CIRCUIT  ·  ILLUSTRATIVE</a:t>
            </a:r>
          </a:p>
        </p:txBody>
      </p:sp>
      <p:sp>
        <p:nvSpPr>
          <p:cNvPr id="28" name="Rounded Rectangle 27"/>
          <p:cNvSpPr/>
          <p:nvPr/>
        </p:nvSpPr>
        <p:spPr>
          <a:xfrm>
            <a:off x="2697480" y="2103120"/>
            <a:ext cx="914400" cy="1783080"/>
          </a:xfrm>
          <a:prstGeom prst="roundRect">
            <a:avLst>
              <a:gd name="adj" fmla="val 8000"/>
            </a:avLst>
          </a:prstGeom>
          <a:solidFill>
            <a:srgbClr val="FBE3EE"/>
          </a:solidFill>
          <a:ln w="12700">
            <a:solidFill>
              <a:srgbClr val="E8639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331720"/>
            <a:ext cx="411480" cy="274320"/>
          </a:xfrm>
          <a:prstGeom prst="rect">
            <a:avLst/>
          </a:prstGeom>
          <a:noFill/>
        </p:spPr>
        <p:txBody>
          <a:bodyPr wrap="square" lIns="0" tIns="0" rIns="0" bIns="0" anchor="ctr">
            <a:spAutoFit/>
          </a:bodyPr>
          <a:lstStyle/>
          <a:p>
            <a:r>
              <a:rPr sz="1200" b="1" i="0">
                <a:solidFill>
                  <a:srgbClr val="5B3BA8"/>
                </a:solidFill>
                <a:latin typeface="Calibri"/>
              </a:rPr>
              <a:t>q0</a:t>
            </a:r>
          </a:p>
        </p:txBody>
      </p:sp>
      <p:cxnSp>
        <p:nvCxnSpPr>
          <p:cNvPr id="30" name="Connector 29"/>
          <p:cNvCxnSpPr/>
          <p:nvPr/>
        </p:nvCxnSpPr>
        <p:spPr>
          <a:xfrm>
            <a:off x="1097280" y="2468880"/>
            <a:ext cx="4114800" cy="0"/>
          </a:xfrm>
          <a:prstGeom prst="line">
            <a:avLst/>
          </a:prstGeom>
          <a:ln w="15875">
            <a:solidFill>
              <a:srgbClr val="7C93F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2880360"/>
            <a:ext cx="411480" cy="274320"/>
          </a:xfrm>
          <a:prstGeom prst="rect">
            <a:avLst/>
          </a:prstGeom>
          <a:noFill/>
        </p:spPr>
        <p:txBody>
          <a:bodyPr wrap="square" lIns="0" tIns="0" rIns="0" bIns="0" anchor="ctr">
            <a:spAutoFit/>
          </a:bodyPr>
          <a:lstStyle/>
          <a:p>
            <a:r>
              <a:rPr sz="1200" b="1" i="0">
                <a:solidFill>
                  <a:srgbClr val="5B3BA8"/>
                </a:solidFill>
                <a:latin typeface="Calibri"/>
              </a:rPr>
              <a:t>q1</a:t>
            </a:r>
          </a:p>
        </p:txBody>
      </p:sp>
      <p:cxnSp>
        <p:nvCxnSpPr>
          <p:cNvPr id="32" name="Connector 31"/>
          <p:cNvCxnSpPr/>
          <p:nvPr/>
        </p:nvCxnSpPr>
        <p:spPr>
          <a:xfrm>
            <a:off x="1097280" y="3017520"/>
            <a:ext cx="4114800" cy="0"/>
          </a:xfrm>
          <a:prstGeom prst="line">
            <a:avLst/>
          </a:prstGeom>
          <a:ln w="15875">
            <a:solidFill>
              <a:srgbClr val="7C93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3429000"/>
            <a:ext cx="411480" cy="274320"/>
          </a:xfrm>
          <a:prstGeom prst="rect">
            <a:avLst/>
          </a:prstGeom>
          <a:noFill/>
        </p:spPr>
        <p:txBody>
          <a:bodyPr wrap="square" lIns="0" tIns="0" rIns="0" bIns="0" anchor="ctr">
            <a:spAutoFit/>
          </a:bodyPr>
          <a:lstStyle/>
          <a:p>
            <a:r>
              <a:rPr sz="1200" b="1" i="0">
                <a:solidFill>
                  <a:srgbClr val="5B3BA8"/>
                </a:solidFill>
                <a:latin typeface="Calibri"/>
              </a:rPr>
              <a:t>q2</a:t>
            </a:r>
          </a:p>
        </p:txBody>
      </p:sp>
      <p:cxnSp>
        <p:nvCxnSpPr>
          <p:cNvPr id="34" name="Connector 33"/>
          <p:cNvCxnSpPr/>
          <p:nvPr/>
        </p:nvCxnSpPr>
        <p:spPr>
          <a:xfrm>
            <a:off x="1097280" y="3566160"/>
            <a:ext cx="4114800" cy="0"/>
          </a:xfrm>
          <a:prstGeom prst="line">
            <a:avLst/>
          </a:prstGeom>
          <a:ln w="15875">
            <a:solidFill>
              <a:srgbClr val="7C93F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697480" y="3611880"/>
            <a:ext cx="914400" cy="274320"/>
          </a:xfrm>
          <a:prstGeom prst="rect">
            <a:avLst/>
          </a:prstGeom>
          <a:noFill/>
        </p:spPr>
        <p:txBody>
          <a:bodyPr wrap="square" lIns="0" tIns="0" rIns="0" bIns="0" anchor="ctr">
            <a:spAutoFit/>
          </a:bodyPr>
          <a:lstStyle/>
          <a:p>
            <a:pPr algn="ctr"/>
            <a:r>
              <a:rPr sz="1050" b="1" i="0">
                <a:solidFill>
                  <a:srgbClr val="E8639F"/>
                </a:solidFill>
                <a:latin typeface="Calibri"/>
              </a:rPr>
              <a:t>Noise / Eve</a:t>
            </a:r>
          </a:p>
        </p:txBody>
      </p:sp>
      <p:sp>
        <p:nvSpPr>
          <p:cNvPr id="36" name="Rounded Rectangle 35"/>
          <p:cNvSpPr/>
          <p:nvPr/>
        </p:nvSpPr>
        <p:spPr>
          <a:xfrm>
            <a:off x="1325880" y="2286000"/>
            <a:ext cx="365760" cy="365760"/>
          </a:xfrm>
          <a:prstGeom prst="roundRect">
            <a:avLst>
              <a:gd name="adj" fmla="val 15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X</a:t>
            </a:r>
          </a:p>
        </p:txBody>
      </p:sp>
      <p:sp>
        <p:nvSpPr>
          <p:cNvPr id="37" name="Rounded Rectangle 36"/>
          <p:cNvSpPr/>
          <p:nvPr/>
        </p:nvSpPr>
        <p:spPr>
          <a:xfrm>
            <a:off x="1325880" y="3383279"/>
            <a:ext cx="365760" cy="365760"/>
          </a:xfrm>
          <a:prstGeom prst="roundRect">
            <a:avLst>
              <a:gd name="adj" fmla="val 15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X</a:t>
            </a:r>
          </a:p>
        </p:txBody>
      </p:sp>
      <p:sp>
        <p:nvSpPr>
          <p:cNvPr id="38" name="Rounded Rectangle 37"/>
          <p:cNvSpPr/>
          <p:nvPr/>
        </p:nvSpPr>
        <p:spPr>
          <a:xfrm>
            <a:off x="2011679" y="2834639"/>
            <a:ext cx="365760" cy="365760"/>
          </a:xfrm>
          <a:prstGeom prst="roundRect">
            <a:avLst>
              <a:gd name="adj" fmla="val 1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H</a:t>
            </a:r>
          </a:p>
        </p:txBody>
      </p:sp>
      <p:sp>
        <p:nvSpPr>
          <p:cNvPr id="39" name="Rounded Rectangle 38"/>
          <p:cNvSpPr/>
          <p:nvPr/>
        </p:nvSpPr>
        <p:spPr>
          <a:xfrm>
            <a:off x="2011679" y="3383279"/>
            <a:ext cx="365760" cy="365760"/>
          </a:xfrm>
          <a:prstGeom prst="roundRect">
            <a:avLst>
              <a:gd name="adj" fmla="val 1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H</a:t>
            </a:r>
          </a:p>
        </p:txBody>
      </p:sp>
      <p:sp>
        <p:nvSpPr>
          <p:cNvPr id="40" name="Rounded Rectangle 39"/>
          <p:cNvSpPr/>
          <p:nvPr/>
        </p:nvSpPr>
        <p:spPr>
          <a:xfrm>
            <a:off x="3931920" y="2834639"/>
            <a:ext cx="365760" cy="365760"/>
          </a:xfrm>
          <a:prstGeom prst="roundRect">
            <a:avLst>
              <a:gd name="adj" fmla="val 1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H</a:t>
            </a:r>
          </a:p>
        </p:txBody>
      </p:sp>
      <p:sp>
        <p:nvSpPr>
          <p:cNvPr id="41" name="Rounded Rectangle 40"/>
          <p:cNvSpPr/>
          <p:nvPr/>
        </p:nvSpPr>
        <p:spPr>
          <a:xfrm>
            <a:off x="4663440" y="2286000"/>
            <a:ext cx="365760" cy="365760"/>
          </a:xfrm>
          <a:prstGeom prst="roundRect">
            <a:avLst>
              <a:gd name="adj" fmla="val 15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M</a:t>
            </a:r>
          </a:p>
        </p:txBody>
      </p:sp>
      <p:sp>
        <p:nvSpPr>
          <p:cNvPr id="42" name="Rounded Rectangle 41"/>
          <p:cNvSpPr/>
          <p:nvPr/>
        </p:nvSpPr>
        <p:spPr>
          <a:xfrm>
            <a:off x="4663440" y="2834639"/>
            <a:ext cx="365760" cy="365760"/>
          </a:xfrm>
          <a:prstGeom prst="roundRect">
            <a:avLst>
              <a:gd name="adj" fmla="val 15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M</a:t>
            </a:r>
          </a:p>
        </p:txBody>
      </p:sp>
      <p:sp>
        <p:nvSpPr>
          <p:cNvPr id="43" name="Rounded Rectangle 42"/>
          <p:cNvSpPr/>
          <p:nvPr/>
        </p:nvSpPr>
        <p:spPr>
          <a:xfrm>
            <a:off x="4663440" y="3383279"/>
            <a:ext cx="365760" cy="365760"/>
          </a:xfrm>
          <a:prstGeom prst="roundRect">
            <a:avLst>
              <a:gd name="adj" fmla="val 15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M</a:t>
            </a:r>
          </a:p>
        </p:txBody>
      </p:sp>
      <p:sp>
        <p:nvSpPr>
          <p:cNvPr id="44" name="TextBox 43"/>
          <p:cNvSpPr txBox="1"/>
          <p:nvPr/>
        </p:nvSpPr>
        <p:spPr>
          <a:xfrm>
            <a:off x="1097280" y="3931920"/>
            <a:ext cx="822960" cy="182880"/>
          </a:xfrm>
          <a:prstGeom prst="rect">
            <a:avLst/>
          </a:prstGeom>
          <a:noFill/>
        </p:spPr>
        <p:txBody>
          <a:bodyPr wrap="square" lIns="0" tIns="0" rIns="0" bIns="0" anchor="t">
            <a:spAutoFit/>
          </a:bodyPr>
          <a:lstStyle/>
          <a:p>
            <a:pPr algn="ctr"/>
            <a:r>
              <a:rPr sz="1000" b="1" i="0">
                <a:solidFill>
                  <a:srgbClr val="5B3BA8"/>
                </a:solidFill>
                <a:latin typeface="Calibri"/>
              </a:rPr>
              <a:t>Encode bit</a:t>
            </a:r>
          </a:p>
        </p:txBody>
      </p:sp>
      <p:sp>
        <p:nvSpPr>
          <p:cNvPr id="45" name="TextBox 44"/>
          <p:cNvSpPr txBox="1"/>
          <p:nvPr/>
        </p:nvSpPr>
        <p:spPr>
          <a:xfrm>
            <a:off x="1783080" y="3931920"/>
            <a:ext cx="822960" cy="182880"/>
          </a:xfrm>
          <a:prstGeom prst="rect">
            <a:avLst/>
          </a:prstGeom>
          <a:noFill/>
        </p:spPr>
        <p:txBody>
          <a:bodyPr wrap="square" lIns="0" tIns="0" rIns="0" bIns="0" anchor="t">
            <a:spAutoFit/>
          </a:bodyPr>
          <a:lstStyle/>
          <a:p>
            <a:pPr algn="ctr"/>
            <a:r>
              <a:rPr sz="1000" b="1" i="0">
                <a:solidFill>
                  <a:srgbClr val="5B3BA8"/>
                </a:solidFill>
                <a:latin typeface="Calibri"/>
              </a:rPr>
              <a:t>Encode basis</a:t>
            </a:r>
          </a:p>
        </p:txBody>
      </p:sp>
      <p:sp>
        <p:nvSpPr>
          <p:cNvPr id="46" name="TextBox 45"/>
          <p:cNvSpPr txBox="1"/>
          <p:nvPr/>
        </p:nvSpPr>
        <p:spPr>
          <a:xfrm>
            <a:off x="3703320" y="3931920"/>
            <a:ext cx="822960" cy="182880"/>
          </a:xfrm>
          <a:prstGeom prst="rect">
            <a:avLst/>
          </a:prstGeom>
          <a:noFill/>
        </p:spPr>
        <p:txBody>
          <a:bodyPr wrap="square" lIns="0" tIns="0" rIns="0" bIns="0" anchor="t">
            <a:spAutoFit/>
          </a:bodyPr>
          <a:lstStyle/>
          <a:p>
            <a:pPr algn="ctr"/>
            <a:r>
              <a:rPr sz="1000" b="1" i="0">
                <a:solidFill>
                  <a:srgbClr val="5B3BA8"/>
                </a:solidFill>
                <a:latin typeface="Calibri"/>
              </a:rPr>
              <a:t>Bob’s basis</a:t>
            </a:r>
          </a:p>
        </p:txBody>
      </p:sp>
      <p:sp>
        <p:nvSpPr>
          <p:cNvPr id="47" name="TextBox 46"/>
          <p:cNvSpPr txBox="1"/>
          <p:nvPr/>
        </p:nvSpPr>
        <p:spPr>
          <a:xfrm>
            <a:off x="4434840" y="3931920"/>
            <a:ext cx="822960" cy="182880"/>
          </a:xfrm>
          <a:prstGeom prst="rect">
            <a:avLst/>
          </a:prstGeom>
          <a:noFill/>
        </p:spPr>
        <p:txBody>
          <a:bodyPr wrap="square" lIns="0" tIns="0" rIns="0" bIns="0" anchor="t">
            <a:spAutoFit/>
          </a:bodyPr>
          <a:lstStyle/>
          <a:p>
            <a:pPr algn="ctr"/>
            <a:r>
              <a:rPr sz="1000" b="1" i="0">
                <a:solidFill>
                  <a:srgbClr val="5B3BA8"/>
                </a:solidFill>
                <a:latin typeface="Calibri"/>
              </a:rPr>
              <a:t>Measure</a:t>
            </a:r>
          </a:p>
        </p:txBody>
      </p:sp>
      <p:sp>
        <p:nvSpPr>
          <p:cNvPr id="48" name="TextBox 47"/>
          <p:cNvSpPr txBox="1"/>
          <p:nvPr/>
        </p:nvSpPr>
        <p:spPr>
          <a:xfrm>
            <a:off x="2743200" y="3931920"/>
            <a:ext cx="822960" cy="182880"/>
          </a:xfrm>
          <a:prstGeom prst="rect">
            <a:avLst/>
          </a:prstGeom>
          <a:noFill/>
        </p:spPr>
        <p:txBody>
          <a:bodyPr wrap="square" lIns="0" tIns="0" rIns="0" bIns="0" anchor="t">
            <a:spAutoFit/>
          </a:bodyPr>
          <a:lstStyle/>
          <a:p>
            <a:pPr algn="ctr"/>
            <a:r>
              <a:rPr sz="1000" b="1" i="0">
                <a:solidFill>
                  <a:srgbClr val="E8639F"/>
                </a:solidFill>
                <a:latin typeface="Calibri"/>
              </a:rPr>
              <a:t>Channel</a:t>
            </a:r>
          </a:p>
        </p:txBody>
      </p:sp>
      <p:sp>
        <p:nvSpPr>
          <p:cNvPr id="49" name="TextBox 48"/>
          <p:cNvSpPr txBox="1"/>
          <p:nvPr/>
        </p:nvSpPr>
        <p:spPr>
          <a:xfrm>
            <a:off x="658368" y="4224528"/>
            <a:ext cx="4572000" cy="320040"/>
          </a:xfrm>
          <a:prstGeom prst="rect">
            <a:avLst/>
          </a:prstGeom>
          <a:noFill/>
        </p:spPr>
        <p:txBody>
          <a:bodyPr wrap="square" lIns="0" tIns="0" rIns="0" bIns="0" anchor="t">
            <a:spAutoFit/>
          </a:bodyPr>
          <a:lstStyle/>
          <a:p>
            <a:r>
              <a:rPr sz="1000" b="0" i="1">
                <a:solidFill>
                  <a:srgbClr val="6F7399"/>
                </a:solidFill>
                <a:latin typeface="Calibri"/>
              </a:rPr>
              <a:t>X = bit 1, H = X basis. Gates depend on each round’s random bit and basis.</a:t>
            </a:r>
          </a:p>
        </p:txBody>
      </p:sp>
      <p:sp>
        <p:nvSpPr>
          <p:cNvPr id="50" name="Rounded Rectangle 49"/>
          <p:cNvSpPr/>
          <p:nvPr/>
        </p:nvSpPr>
        <p:spPr>
          <a:xfrm>
            <a:off x="5577840" y="1691640"/>
            <a:ext cx="310896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60720" y="1810512"/>
            <a:ext cx="2743200" cy="182880"/>
          </a:xfrm>
          <a:prstGeom prst="rect">
            <a:avLst/>
          </a:prstGeom>
          <a:noFill/>
        </p:spPr>
        <p:txBody>
          <a:bodyPr wrap="square" lIns="0" tIns="0" rIns="0" bIns="0" anchor="t">
            <a:spAutoFit/>
          </a:bodyPr>
          <a:lstStyle/>
          <a:p>
            <a:r>
              <a:rPr sz="950" b="1" i="0" spc="100">
                <a:solidFill>
                  <a:srgbClr val="5B3BA8"/>
                </a:solidFill>
                <a:latin typeface="Calibri"/>
              </a:rPr>
              <a:t>KEY DETAILS</a:t>
            </a:r>
          </a:p>
        </p:txBody>
      </p:sp>
      <p:sp>
        <p:nvSpPr>
          <p:cNvPr id="52" name="TextBox 51"/>
          <p:cNvSpPr txBox="1"/>
          <p:nvPr/>
        </p:nvSpPr>
        <p:spPr>
          <a:xfrm>
            <a:off x="5760720" y="2057400"/>
            <a:ext cx="2788920" cy="2514600"/>
          </a:xfrm>
          <a:prstGeom prst="rect">
            <a:avLst/>
          </a:prstGeom>
          <a:noFill/>
        </p:spPr>
        <p:txBody>
          <a:bodyPr wrap="square" lIns="0" tIns="0" rIns="0" bIns="0" anchor="t">
            <a:spAutoFit/>
          </a:bodyPr>
          <a:lstStyle/>
          <a:p>
            <a:pPr marL="155448" indent="-155448">
              <a:spcAft>
                <a:spcPts val="300"/>
              </a:spcAft>
              <a:buClr>
                <a:srgbClr val="E8639F"/>
              </a:buClr>
              <a:buFont typeface="Arial"/>
              <a:buChar char="•"/>
            </a:pPr>
            <a:r>
              <a:rPr sz="1150" b="0" i="0">
                <a:solidFill>
                  <a:srgbClr val="3B3470"/>
                </a:solidFill>
                <a:latin typeface="Calibri"/>
              </a:rPr>
              <a:t>X gate encodes bit 1; H gate encodes the X basis</a:t>
            </a:r>
          </a:p>
          <a:p>
            <a:pPr marL="155448" indent="-155448">
              <a:spcAft>
                <a:spcPts val="300"/>
              </a:spcAft>
              <a:buClr>
                <a:srgbClr val="E8639F"/>
              </a:buClr>
              <a:buFont typeface="Arial"/>
              <a:buChar char="•"/>
            </a:pPr>
            <a:r>
              <a:rPr sz="1150" b="0" i="0">
                <a:solidFill>
                  <a:srgbClr val="3B3470"/>
                </a:solidFill>
                <a:latin typeface="Calibri"/>
              </a:rPr>
              <a:t>Random Z or X bases for Alice and Bob</a:t>
            </a:r>
          </a:p>
          <a:p>
            <a:pPr marL="155448" indent="-155448">
              <a:spcAft>
                <a:spcPts val="300"/>
              </a:spcAft>
              <a:buClr>
                <a:srgbClr val="E8639F"/>
              </a:buClr>
              <a:buFont typeface="Arial"/>
              <a:buChar char="•"/>
            </a:pPr>
            <a:r>
              <a:rPr sz="1150" b="0" i="0">
                <a:solidFill>
                  <a:srgbClr val="3B3470"/>
                </a:solidFill>
                <a:latin typeface="Calibri"/>
              </a:rPr>
              <a:t>Many rounds packed into multi-qubit circuits, fresh randomness per batch</a:t>
            </a:r>
          </a:p>
          <a:p>
            <a:pPr marL="155448" indent="-155448">
              <a:spcAft>
                <a:spcPts val="300"/>
              </a:spcAft>
              <a:buClr>
                <a:srgbClr val="E8639F"/>
              </a:buClr>
              <a:buFont typeface="Arial"/>
              <a:buChar char="•"/>
            </a:pPr>
            <a:r>
              <a:rPr sz="1150" b="0" i="0">
                <a:solidFill>
                  <a:srgbClr val="3B3470"/>
                </a:solidFill>
                <a:latin typeface="Calibri"/>
              </a:rPr>
              <a:t>Qiskit Aer with a classical bit-flip noise model</a:t>
            </a:r>
          </a:p>
          <a:p>
            <a:pPr marL="155448" indent="-155448">
              <a:spcAft>
                <a:spcPts val="300"/>
              </a:spcAft>
              <a:buClr>
                <a:srgbClr val="E8639F"/>
              </a:buClr>
              <a:buFont typeface="Arial"/>
              <a:buChar char="•"/>
            </a:pPr>
            <a:r>
              <a:rPr sz="1150" b="0" i="0">
                <a:solidFill>
                  <a:srgbClr val="3B3470"/>
                </a:solidFill>
                <a:latin typeface="Calibri"/>
              </a:rPr>
              <a:t>Compared on IBM fake backend FakeSherbrooke</a:t>
            </a:r>
          </a:p>
          <a:p>
            <a:pPr marL="155448" indent="-155448">
              <a:spcAft>
                <a:spcPts val="300"/>
              </a:spcAft>
              <a:buClr>
                <a:srgbClr val="E8639F"/>
              </a:buClr>
              <a:buFont typeface="Arial"/>
              <a:buChar char="•"/>
            </a:pPr>
            <a:r>
              <a:rPr sz="1150" b="0" i="0">
                <a:solidFill>
                  <a:srgbClr val="3B3470"/>
                </a:solidFill>
                <a:latin typeface="Calibri"/>
              </a:rPr>
              <a:t>Validated on a real IBM backend</a:t>
            </a:r>
          </a:p>
          <a:p>
            <a:pPr marL="155448" indent="-155448">
              <a:buClr>
                <a:srgbClr val="E8639F"/>
              </a:buClr>
              <a:buFont typeface="Arial"/>
              <a:buChar char="•"/>
            </a:pPr>
            <a:r>
              <a:rPr sz="1150" b="0" i="0">
                <a:solidFill>
                  <a:srgbClr val="3B3470"/>
                </a:solidFill>
                <a:latin typeface="Calibri"/>
              </a:rPr>
              <a:t>Eve: intercept-resend attacker can be inserted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graphicFrame>
        <p:nvGraphicFramePr>
          <p:cNvPr id="26" name="Table 25"/>
          <p:cNvGraphicFramePr>
            <a:graphicFrameLocks noGrp="1"/>
          </p:cNvGraphicFramePr>
          <p:nvPr/>
        </p:nvGraphicFramePr>
        <p:xfrm>
          <a:off x="457200" y="1691640"/>
          <a:ext cx="8229600" cy="2926080"/>
        </p:xfrm>
        <a:graphic>
          <a:graphicData uri="http://schemas.openxmlformats.org/drawingml/2006/table">
            <a:tbl>
              <a:tblPr firstRow="0" bandRow="0">
                <a:tableStyleId>{2D5ABB26-0587-4C30-8999-92F81FD0307C}</a:tableStyleId>
              </a:tblPr>
              <a:tblGrid>
                <a:gridCol w="1828800"/>
                <a:gridCol w="6400800"/>
              </a:tblGrid>
              <a:tr h="292608">
                <a:tc>
                  <a:txBody>
                    <a:bodyPr wrap="square"/>
                    <a:lstStyle/>
                    <a:p>
                      <a:r>
                        <a:rPr sz="1100" b="1" i="0">
                          <a:solidFill>
                            <a:srgbClr val="FFFFFF"/>
                          </a:solidFill>
                          <a:latin typeface="Calibri"/>
                        </a:rPr>
                        <a:t>LAYER</a:t>
                      </a:r>
                    </a:p>
                  </a:txBody>
                  <a:tcPr marL="91440" marT="27432" marR="91440" marB="27432" anchor="ctr">
                    <a:lnL w="0">
                      <a:noFill/>
                    </a:lnL>
                    <a:lnR w="0">
                      <a:noFill/>
                    </a:lnR>
                    <a:lnT w="0">
                      <a:noFill/>
                    </a:lnT>
                    <a:lnB w="0">
                      <a:noFill/>
                    </a:lnB>
                    <a:solidFill>
                      <a:srgbClr val="5B3BA8"/>
                    </a:solidFill>
                  </a:tcPr>
                </a:tc>
                <a:tc>
                  <a:txBody>
                    <a:bodyPr wrap="square"/>
                    <a:lstStyle/>
                    <a:p>
                      <a:r>
                        <a:rPr sz="1100" b="1" i="0">
                          <a:solidFill>
                            <a:srgbClr val="FFFFFF"/>
                          </a:solidFill>
                          <a:latin typeface="Calibri"/>
                        </a:rPr>
                        <a:t>TECHNOLOGY</a:t>
                      </a:r>
                    </a:p>
                  </a:txBody>
                  <a:tcPr marL="91440" marT="27432" marR="91440" marB="27432" anchor="ctr">
                    <a:lnL w="0">
                      <a:noFill/>
                    </a:lnL>
                    <a:lnR w="0">
                      <a:noFill/>
                    </a:lnR>
                    <a:lnT w="0">
                      <a:noFill/>
                    </a:lnT>
                    <a:lnB w="0">
                      <a:noFill/>
                    </a:lnB>
                    <a:solidFill>
                      <a:srgbClr val="5B3BA8"/>
                    </a:solidFill>
                  </a:tcPr>
                </a:tc>
              </a:tr>
              <a:tr h="292608">
                <a:tc>
                  <a:txBody>
                    <a:bodyPr wrap="square"/>
                    <a:lstStyle/>
                    <a:p>
                      <a:r>
                        <a:rPr sz="1200" b="1" i="0">
                          <a:solidFill>
                            <a:srgbClr val="2E1B5B"/>
                          </a:solidFill>
                          <a:latin typeface="Calibri"/>
                        </a:rPr>
                        <a:t>Language</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200" b="0" i="0">
                          <a:solidFill>
                            <a:srgbClr val="3B3470"/>
                          </a:solidFill>
                          <a:latin typeface="Calibri"/>
                        </a:rPr>
                        <a:t>Python 3.11+</a:t>
                      </a:r>
                    </a:p>
                  </a:txBody>
                  <a:tcPr marL="91440" marT="27432" marR="91440" marB="27432" anchor="ctr">
                    <a:lnL w="0">
                      <a:noFill/>
                    </a:lnL>
                    <a:lnR w="0">
                      <a:noFill/>
                    </a:lnR>
                    <a:lnT w="0">
                      <a:noFill/>
                    </a:lnT>
                    <a:lnB w="6350">
                      <a:solidFill>
                        <a:srgbClr val="B8BDEB"/>
                      </a:solidFill>
                    </a:lnB>
                    <a:solidFill>
                      <a:srgbClr val="FFFFFF"/>
                    </a:solidFill>
                  </a:tcPr>
                </a:tc>
              </a:tr>
              <a:tr h="292608">
                <a:tc>
                  <a:txBody>
                    <a:bodyPr wrap="square"/>
                    <a:lstStyle/>
                    <a:p>
                      <a:r>
                        <a:rPr sz="1200" b="1" i="0">
                          <a:solidFill>
                            <a:srgbClr val="2E1B5B"/>
                          </a:solidFill>
                          <a:latin typeface="Calibri"/>
                        </a:rPr>
                        <a:t>Quantum SDK</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200" b="0" i="0">
                          <a:solidFill>
                            <a:srgbClr val="3B3470"/>
                          </a:solidFill>
                          <a:latin typeface="Calibri"/>
                        </a:rPr>
                        <a:t>Qiskit &gt;=2.0, Qiskit Aer, Qiskit Runtime</a:t>
                      </a:r>
                    </a:p>
                  </a:txBody>
                  <a:tcPr marL="91440" marT="27432" marR="91440" marB="27432" anchor="ctr">
                    <a:lnL w="0">
                      <a:noFill/>
                    </a:lnL>
                    <a:lnR w="0">
                      <a:noFill/>
                    </a:lnR>
                    <a:lnT w="0">
                      <a:noFill/>
                    </a:lnT>
                    <a:lnB w="6350">
                      <a:solidFill>
                        <a:srgbClr val="B8BDEB"/>
                      </a:solidFill>
                    </a:lnB>
                    <a:solidFill>
                      <a:srgbClr val="EEF0FE"/>
                    </a:solidFill>
                  </a:tcPr>
                </a:tc>
              </a:tr>
              <a:tr h="292608">
                <a:tc>
                  <a:txBody>
                    <a:bodyPr wrap="square"/>
                    <a:lstStyle/>
                    <a:p>
                      <a:r>
                        <a:rPr sz="1200" b="1" i="0">
                          <a:solidFill>
                            <a:srgbClr val="2E1B5B"/>
                          </a:solidFill>
                          <a:latin typeface="Calibri"/>
                        </a:rPr>
                        <a:t>Simulation</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200" b="0" i="0">
                          <a:solidFill>
                            <a:srgbClr val="3B3470"/>
                          </a:solidFill>
                          <a:latin typeface="Calibri"/>
                        </a:rPr>
                        <a:t>AerSimulator with a fitted linear noise model, IBM fake backend (FakeSherbrooke)</a:t>
                      </a:r>
                    </a:p>
                  </a:txBody>
                  <a:tcPr marL="91440" marT="27432" marR="91440" marB="27432" anchor="ctr">
                    <a:lnL w="0">
                      <a:noFill/>
                    </a:lnL>
                    <a:lnR w="0">
                      <a:noFill/>
                    </a:lnR>
                    <a:lnT w="0">
                      <a:noFill/>
                    </a:lnT>
                    <a:lnB w="6350">
                      <a:solidFill>
                        <a:srgbClr val="B8BDEB"/>
                      </a:solidFill>
                    </a:lnB>
                    <a:solidFill>
                      <a:srgbClr val="FFFFFF"/>
                    </a:solidFill>
                  </a:tcPr>
                </a:tc>
              </a:tr>
              <a:tr h="292608">
                <a:tc>
                  <a:txBody>
                    <a:bodyPr wrap="square"/>
                    <a:lstStyle/>
                    <a:p>
                      <a:r>
                        <a:rPr sz="1200" b="1" i="0">
                          <a:solidFill>
                            <a:srgbClr val="2E1B5B"/>
                          </a:solidFill>
                          <a:latin typeface="Calibri"/>
                        </a:rPr>
                        <a:t>Hardware</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200" b="0" i="0">
                          <a:solidFill>
                            <a:srgbClr val="3B3470"/>
                          </a:solidFill>
                          <a:latin typeface="Calibri"/>
                        </a:rPr>
                        <a:t>IBM Quantum backend via Qiskit Runtime (SamplerV2)</a:t>
                      </a:r>
                    </a:p>
                  </a:txBody>
                  <a:tcPr marL="91440" marT="27432" marR="91440" marB="27432" anchor="ctr">
                    <a:lnL w="0">
                      <a:noFill/>
                    </a:lnL>
                    <a:lnR w="0">
                      <a:noFill/>
                    </a:lnR>
                    <a:lnT w="0">
                      <a:noFill/>
                    </a:lnT>
                    <a:lnB w="6350">
                      <a:solidFill>
                        <a:srgbClr val="B8BDEB"/>
                      </a:solidFill>
                    </a:lnB>
                    <a:solidFill>
                      <a:srgbClr val="EEF0FE"/>
                    </a:solidFill>
                  </a:tcPr>
                </a:tc>
              </a:tr>
              <a:tr h="292608">
                <a:tc>
                  <a:txBody>
                    <a:bodyPr wrap="square"/>
                    <a:lstStyle/>
                    <a:p>
                      <a:r>
                        <a:rPr sz="1200" b="1" i="0">
                          <a:solidFill>
                            <a:srgbClr val="2E1B5B"/>
                          </a:solidFill>
                          <a:latin typeface="Calibri"/>
                        </a:rPr>
                        <a:t>Key processing</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200" b="0" i="0">
                          <a:solidFill>
                            <a:srgbClr val="3B3470"/>
                          </a:solidFill>
                          <a:latin typeface="Calibri"/>
                        </a:rPr>
                        <a:t>NumPy, error correction, privacy amplification</a:t>
                      </a:r>
                    </a:p>
                  </a:txBody>
                  <a:tcPr marL="91440" marT="27432" marR="91440" marB="27432" anchor="ctr">
                    <a:lnL w="0">
                      <a:noFill/>
                    </a:lnL>
                    <a:lnR w="0">
                      <a:noFill/>
                    </a:lnR>
                    <a:lnT w="0">
                      <a:noFill/>
                    </a:lnT>
                    <a:lnB w="6350">
                      <a:solidFill>
                        <a:srgbClr val="B8BDEB"/>
                      </a:solidFill>
                    </a:lnB>
                    <a:solidFill>
                      <a:srgbClr val="FFFFFF"/>
                    </a:solidFill>
                  </a:tcPr>
                </a:tc>
              </a:tr>
              <a:tr h="292608">
                <a:tc>
                  <a:txBody>
                    <a:bodyPr wrap="square"/>
                    <a:lstStyle/>
                    <a:p>
                      <a:r>
                        <a:rPr sz="1200" b="1" i="0">
                          <a:solidFill>
                            <a:srgbClr val="2E1B5B"/>
                          </a:solidFill>
                          <a:latin typeface="Calibri"/>
                        </a:rPr>
                        <a:t>Security layer</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200" b="0" i="0">
                          <a:solidFill>
                            <a:srgbClr val="3B3470"/>
                          </a:solidFill>
                          <a:latin typeface="Calibri"/>
                        </a:rPr>
                        <a:t>cryptography library (HKDF, AES-GCM)</a:t>
                      </a:r>
                    </a:p>
                  </a:txBody>
                  <a:tcPr marL="91440" marT="27432" marR="91440" marB="27432" anchor="ctr">
                    <a:lnL w="0">
                      <a:noFill/>
                    </a:lnL>
                    <a:lnR w="0">
                      <a:noFill/>
                    </a:lnR>
                    <a:lnT w="0">
                      <a:noFill/>
                    </a:lnT>
                    <a:lnB w="6350">
                      <a:solidFill>
                        <a:srgbClr val="B8BDEB"/>
                      </a:solidFill>
                    </a:lnB>
                    <a:solidFill>
                      <a:srgbClr val="EEF0FE"/>
                    </a:solidFill>
                  </a:tcPr>
                </a:tc>
              </a:tr>
              <a:tr h="292608">
                <a:tc>
                  <a:txBody>
                    <a:bodyPr wrap="square"/>
                    <a:lstStyle/>
                    <a:p>
                      <a:r>
                        <a:rPr sz="1200" b="1" i="0">
                          <a:solidFill>
                            <a:srgbClr val="2E1B5B"/>
                          </a:solidFill>
                          <a:latin typeface="Calibri"/>
                        </a:rPr>
                        <a:t>App and charts</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200" b="0" i="0">
                          <a:solidFill>
                            <a:srgbClr val="3B3470"/>
                          </a:solidFill>
                          <a:latin typeface="Calibri"/>
                        </a:rPr>
                        <a:t>Streamlit, matplotlib, pandas</a:t>
                      </a:r>
                    </a:p>
                  </a:txBody>
                  <a:tcPr marL="91440" marT="27432" marR="91440" marB="27432" anchor="ctr">
                    <a:lnL w="0">
                      <a:noFill/>
                    </a:lnL>
                    <a:lnR w="0">
                      <a:noFill/>
                    </a:lnR>
                    <a:lnT w="0">
                      <a:noFill/>
                    </a:lnT>
                    <a:lnB w="6350">
                      <a:solidFill>
                        <a:srgbClr val="B8BDEB"/>
                      </a:solidFill>
                    </a:lnB>
                    <a:solidFill>
                      <a:srgbClr val="FFFFFF"/>
                    </a:solidFill>
                  </a:tcPr>
                </a:tc>
              </a:tr>
              <a:tr h="292608">
                <a:tc>
                  <a:txBody>
                    <a:bodyPr wrap="square"/>
                    <a:lstStyle/>
                    <a:p>
                      <a:r>
                        <a:rPr sz="1200" b="1" i="0">
                          <a:solidFill>
                            <a:srgbClr val="2E1B5B"/>
                          </a:solidFill>
                          <a:latin typeface="Calibri"/>
                        </a:rPr>
                        <a:t>Environment</a:t>
                      </a:r>
                    </a:p>
                  </a:txBody>
                  <a:tcPr marL="91440" marT="27432" marR="91440" marB="27432" anchor="ctr">
                    <a:lnL w="0">
                      <a:noFill/>
                    </a:lnL>
                    <a:lnR w="0">
                      <a:noFill/>
                    </a:lnR>
                    <a:lnT w="0">
                      <a:noFill/>
                    </a:lnT>
                    <a:lnB w="6350">
                      <a:solidFill>
                        <a:srgbClr val="B8BDEB"/>
                      </a:solidFill>
                    </a:lnB>
                    <a:solidFill>
                      <a:srgbClr val="EEF0FE"/>
                    </a:solidFill>
                  </a:tcPr>
                </a:tc>
                <a:tc>
                  <a:txBody>
                    <a:bodyPr wrap="square"/>
                    <a:lstStyle/>
                    <a:p>
                      <a:r>
                        <a:rPr sz="1200" b="0" i="0">
                          <a:solidFill>
                            <a:srgbClr val="3B3470"/>
                          </a:solidFill>
                          <a:latin typeface="Calibri"/>
                        </a:rPr>
                        <a:t>VS Code, venv</a:t>
                      </a:r>
                    </a:p>
                  </a:txBody>
                  <a:tcPr marL="91440" marT="27432" marR="91440" marB="27432" anchor="ctr">
                    <a:lnL w="0">
                      <a:noFill/>
                    </a:lnL>
                    <a:lnR w="0">
                      <a:noFill/>
                    </a:lnR>
                    <a:lnT w="0">
                      <a:noFill/>
                    </a:lnT>
                    <a:lnB w="6350">
                      <a:solidFill>
                        <a:srgbClr val="B8BDEB"/>
                      </a:solidFill>
                    </a:lnB>
                    <a:solidFill>
                      <a:srgbClr val="EEF0FE"/>
                    </a:solidFill>
                  </a:tcPr>
                </a:tc>
              </a:tr>
              <a:tr h="292608">
                <a:tc>
                  <a:txBody>
                    <a:bodyPr wrap="square"/>
                    <a:lstStyle/>
                    <a:p>
                      <a:r>
                        <a:rPr sz="1200" b="1" i="0">
                          <a:solidFill>
                            <a:srgbClr val="2E1B5B"/>
                          </a:solidFill>
                          <a:latin typeface="Calibri"/>
                        </a:rPr>
                        <a:t>Version control</a:t>
                      </a:r>
                    </a:p>
                  </a:txBody>
                  <a:tcPr marL="91440" marT="27432" marR="91440" marB="27432" anchor="ctr">
                    <a:lnL w="0">
                      <a:noFill/>
                    </a:lnL>
                    <a:lnR w="0">
                      <a:noFill/>
                    </a:lnR>
                    <a:lnT w="0">
                      <a:noFill/>
                    </a:lnT>
                    <a:lnB w="6350">
                      <a:solidFill>
                        <a:srgbClr val="B8BDEB"/>
                      </a:solidFill>
                    </a:lnB>
                    <a:solidFill>
                      <a:srgbClr val="FFFFFF"/>
                    </a:solidFill>
                  </a:tcPr>
                </a:tc>
                <a:tc>
                  <a:txBody>
                    <a:bodyPr wrap="square"/>
                    <a:lstStyle/>
                    <a:p>
                      <a:r>
                        <a:rPr sz="1200" b="0" i="0">
                          <a:solidFill>
                            <a:srgbClr val="3B3470"/>
                          </a:solidFill>
                          <a:latin typeface="Calibri"/>
                        </a:rPr>
                        <a:t>Git + GitHub</a:t>
                      </a:r>
                    </a:p>
                  </a:txBody>
                  <a:tcPr marL="91440" marT="27432" marR="91440" marB="27432" anchor="ctr">
                    <a:lnL w="0">
                      <a:noFill/>
                    </a:lnL>
                    <a:lnR w="0">
                      <a:noFill/>
                    </a:lnR>
                    <a:lnT w="0">
                      <a:noFill/>
                    </a:lnT>
                    <a:lnB w="6350">
                      <a:solidFill>
                        <a:srgbClr val="B8BDEB"/>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sp>
        <p:nvSpPr>
          <p:cNvPr id="26" name="Rounded Rectangle 25"/>
          <p:cNvSpPr/>
          <p:nvPr/>
        </p:nvSpPr>
        <p:spPr>
          <a:xfrm>
            <a:off x="457200" y="1691640"/>
            <a:ext cx="493776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7" name="Chart 26"/>
          <p:cNvGraphicFramePr>
            <a:graphicFrameLocks noGrp="1"/>
          </p:cNvGraphicFramePr>
          <p:nvPr/>
        </p:nvGraphicFramePr>
        <p:xfrm>
          <a:off x="594360" y="1783080"/>
          <a:ext cx="4663440" cy="2743200"/>
        </p:xfrm>
        <a:graphic>
          <a:graphicData uri="http://schemas.openxmlformats.org/drawingml/2006/chart">
            <c:chart xmlns:c="http://schemas.openxmlformats.org/drawingml/2006/chart" r:id="rId3"/>
          </a:graphicData>
        </a:graphic>
      </p:graphicFrame>
      <p:sp>
        <p:nvSpPr>
          <p:cNvPr id="28" name="Rounded Rectangle 27"/>
          <p:cNvSpPr/>
          <p:nvPr/>
        </p:nvSpPr>
        <p:spPr>
          <a:xfrm>
            <a:off x="5577840" y="1691640"/>
            <a:ext cx="310896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1810512"/>
            <a:ext cx="2743200" cy="182880"/>
          </a:xfrm>
          <a:prstGeom prst="rect">
            <a:avLst/>
          </a:prstGeom>
          <a:noFill/>
        </p:spPr>
        <p:txBody>
          <a:bodyPr wrap="square" lIns="0" tIns="0" rIns="0" bIns="0" anchor="t">
            <a:spAutoFit/>
          </a:bodyPr>
          <a:lstStyle/>
          <a:p>
            <a:r>
              <a:rPr sz="950" b="1" i="0" spc="100">
                <a:solidFill>
                  <a:srgbClr val="5B3BA8"/>
                </a:solidFill>
                <a:latin typeface="Calibri"/>
              </a:rPr>
              <a:t>KEY DETAILS</a:t>
            </a:r>
          </a:p>
        </p:txBody>
      </p:sp>
      <p:sp>
        <p:nvSpPr>
          <p:cNvPr id="30" name="TextBox 29"/>
          <p:cNvSpPr txBox="1"/>
          <p:nvPr/>
        </p:nvSpPr>
        <p:spPr>
          <a:xfrm>
            <a:off x="5760720" y="2057400"/>
            <a:ext cx="2788920" cy="2514600"/>
          </a:xfrm>
          <a:prstGeom prst="rect">
            <a:avLst/>
          </a:prstGeom>
          <a:noFill/>
        </p:spPr>
        <p:txBody>
          <a:bodyPr wrap="square" lIns="0" tIns="0" rIns="0" bIns="0" anchor="t">
            <a:spAutoFit/>
          </a:bodyPr>
          <a:lstStyle/>
          <a:p>
            <a:pPr marL="155448" indent="-155448">
              <a:spcAft>
                <a:spcPts val="400"/>
              </a:spcAft>
              <a:buClr>
                <a:srgbClr val="E8639F"/>
              </a:buClr>
              <a:buFont typeface="Arial"/>
              <a:buChar char="•"/>
            </a:pPr>
            <a:r>
              <a:rPr sz="1150" b="0" i="0">
                <a:solidFill>
                  <a:srgbClr val="3B3470"/>
                </a:solidFill>
                <a:latin typeface="Calibri"/>
              </a:rPr>
              <a:t>Intercept-resend attack drives QBER to about 25%</a:t>
            </a:r>
          </a:p>
          <a:p>
            <a:pPr marL="155448" indent="-155448">
              <a:spcAft>
                <a:spcPts val="400"/>
              </a:spcAft>
              <a:buClr>
                <a:srgbClr val="E8639F"/>
              </a:buClr>
              <a:buFont typeface="Arial"/>
              <a:buChar char="•"/>
            </a:pPr>
            <a:r>
              <a:rPr sz="1150" b="0" i="0">
                <a:solidFill>
                  <a:srgbClr val="3B3470"/>
                </a:solidFill>
                <a:latin typeface="Calibri"/>
              </a:rPr>
              <a:t>BB84 safety limit is about 11%</a:t>
            </a:r>
          </a:p>
          <a:p>
            <a:pPr marL="155448" indent="-155448">
              <a:spcAft>
                <a:spcPts val="400"/>
              </a:spcAft>
              <a:buClr>
                <a:srgbClr val="E8639F"/>
              </a:buClr>
              <a:buFont typeface="Arial"/>
              <a:buChar char="•"/>
            </a:pPr>
            <a:r>
              <a:rPr sz="1150" b="0" i="0">
                <a:solidFill>
                  <a:srgbClr val="3B3470"/>
                </a:solidFill>
                <a:latin typeface="Calibri"/>
              </a:rPr>
              <a:t>Trust Meter compares observed QBER with the QBER expected from the noise profile</a:t>
            </a:r>
          </a:p>
          <a:p>
            <a:pPr marL="155448" indent="-155448">
              <a:spcAft>
                <a:spcPts val="400"/>
              </a:spcAft>
              <a:buClr>
                <a:srgbClr val="E8639F"/>
              </a:buClr>
              <a:buFont typeface="Arial"/>
              <a:buChar char="•"/>
            </a:pPr>
            <a:r>
              <a:rPr sz="1150" b="0" i="0">
                <a:solidFill>
                  <a:srgbClr val="3B3470"/>
                </a:solidFill>
                <a:latin typeface="Calibri"/>
              </a:rPr>
              <a:t>Noise model fitted to simulated sweeps</a:t>
            </a:r>
          </a:p>
          <a:p>
            <a:pPr marL="155448" indent="-155448">
              <a:buClr>
                <a:srgbClr val="E8639F"/>
              </a:buClr>
              <a:buFont typeface="Arial"/>
              <a:buChar char="•"/>
            </a:pPr>
            <a:r>
              <a:rPr sz="1150" b="0" i="0">
                <a:solidFill>
                  <a:srgbClr val="3B3470"/>
                </a:solidFill>
                <a:latin typeface="Calibri"/>
              </a:rPr>
              <a:t>48 unit tests passing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
        <p:nvSpPr>
          <p:cNvPr id="26" name="Rounded Rectangle 25"/>
          <p:cNvSpPr/>
          <p:nvPr/>
        </p:nvSpPr>
        <p:spPr>
          <a:xfrm>
            <a:off x="457200" y="169164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1874520"/>
            <a:ext cx="384048" cy="384048"/>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1</a:t>
            </a:r>
          </a:p>
        </p:txBody>
      </p:sp>
      <p:sp>
        <p:nvSpPr>
          <p:cNvPr id="28" name="TextBox 27"/>
          <p:cNvSpPr txBox="1"/>
          <p:nvPr/>
        </p:nvSpPr>
        <p:spPr>
          <a:xfrm>
            <a:off x="1170432" y="1828800"/>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Protects long-lived secrets</a:t>
            </a:r>
          </a:p>
          <a:p>
            <a:r>
              <a:rPr sz="1200" b="0" i="0">
                <a:solidFill>
                  <a:srgbClr val="3B3470"/>
                </a:solidFill>
                <a:latin typeface="Calibri"/>
              </a:rPr>
              <a:t>Defence, government and journalist communications that must stay secret for decades.</a:t>
            </a:r>
          </a:p>
        </p:txBody>
      </p:sp>
      <p:sp>
        <p:nvSpPr>
          <p:cNvPr id="29" name="Rounded Rectangle 28"/>
          <p:cNvSpPr/>
          <p:nvPr/>
        </p:nvSpPr>
        <p:spPr>
          <a:xfrm>
            <a:off x="4663440" y="169164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46320" y="1874520"/>
            <a:ext cx="384048" cy="384048"/>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2</a:t>
            </a:r>
          </a:p>
        </p:txBody>
      </p:sp>
      <p:sp>
        <p:nvSpPr>
          <p:cNvPr id="31" name="TextBox 30"/>
          <p:cNvSpPr txBox="1"/>
          <p:nvPr/>
        </p:nvSpPr>
        <p:spPr>
          <a:xfrm>
            <a:off x="5376672" y="1828800"/>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Works on noisy real links</a:t>
            </a:r>
          </a:p>
          <a:p>
            <a:r>
              <a:rPr sz="1200" b="0" i="0">
                <a:solidFill>
                  <a:srgbClr val="3B3470"/>
                </a:solidFill>
                <a:latin typeface="Calibri"/>
              </a:rPr>
              <a:t>Fibre, satellite and field links: a clear, automatic verdict separates noise from attack.</a:t>
            </a:r>
          </a:p>
        </p:txBody>
      </p:sp>
      <p:sp>
        <p:nvSpPr>
          <p:cNvPr id="32" name="Rounded Rectangle 31"/>
          <p:cNvSpPr/>
          <p:nvPr/>
        </p:nvSpPr>
        <p:spPr>
          <a:xfrm>
            <a:off x="457200" y="324612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 y="3429000"/>
            <a:ext cx="384048" cy="384048"/>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3</a:t>
            </a:r>
          </a:p>
        </p:txBody>
      </p:sp>
      <p:sp>
        <p:nvSpPr>
          <p:cNvPr id="34" name="TextBox 33"/>
          <p:cNvSpPr txBox="1"/>
          <p:nvPr/>
        </p:nvSpPr>
        <p:spPr>
          <a:xfrm>
            <a:off x="1170432" y="3383279"/>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Informs QKD investment</a:t>
            </a:r>
          </a:p>
          <a:p>
            <a:r>
              <a:rPr sz="1200" b="0" i="0">
                <a:solidFill>
                  <a:srgbClr val="3B3470"/>
                </a:solidFill>
                <a:latin typeface="Calibri"/>
              </a:rPr>
              <a:t>Teams can judge a channel before investing in QKD hardware.</a:t>
            </a:r>
          </a:p>
        </p:txBody>
      </p:sp>
      <p:sp>
        <p:nvSpPr>
          <p:cNvPr id="35" name="Rounded Rectangle 34"/>
          <p:cNvSpPr/>
          <p:nvPr/>
        </p:nvSpPr>
        <p:spPr>
          <a:xfrm>
            <a:off x="4663440" y="3246120"/>
            <a:ext cx="4023360" cy="137160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46320" y="3429000"/>
            <a:ext cx="384048" cy="384048"/>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Calibri"/>
              </a:rPr>
              <a:t>4</a:t>
            </a:r>
          </a:p>
        </p:txBody>
      </p:sp>
      <p:sp>
        <p:nvSpPr>
          <p:cNvPr id="37" name="TextBox 36"/>
          <p:cNvSpPr txBox="1"/>
          <p:nvPr/>
        </p:nvSpPr>
        <p:spPr>
          <a:xfrm>
            <a:off x="5376672" y="3383279"/>
            <a:ext cx="3154680" cy="1143000"/>
          </a:xfrm>
          <a:prstGeom prst="rect">
            <a:avLst/>
          </a:prstGeom>
          <a:noFill/>
        </p:spPr>
        <p:txBody>
          <a:bodyPr wrap="square" lIns="0" tIns="0" rIns="0" bIns="0" anchor="t">
            <a:spAutoFit/>
          </a:bodyPr>
          <a:lstStyle/>
          <a:p>
            <a:pPr>
              <a:spcAft>
                <a:spcPts val="400"/>
              </a:spcAft>
            </a:pPr>
            <a:r>
              <a:rPr sz="1400" b="1" i="0">
                <a:solidFill>
                  <a:srgbClr val="2E1B5B"/>
                </a:solidFill>
                <a:latin typeface="Calibri"/>
              </a:rPr>
              <a:t>Hands-on training</a:t>
            </a:r>
          </a:p>
          <a:p>
            <a:r>
              <a:rPr sz="1200" b="0" i="0">
                <a:solidFill>
                  <a:srgbClr val="3B3470"/>
                </a:solidFill>
                <a:latin typeface="Calibri"/>
              </a:rPr>
              <a:t>Defence and security teams see how noise and attacks affect key security.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
        <p:nvSpPr>
          <p:cNvPr id="26" name="Rounded Rectangle 25"/>
          <p:cNvSpPr/>
          <p:nvPr/>
        </p:nvSpPr>
        <p:spPr>
          <a:xfrm>
            <a:off x="457200" y="1691640"/>
            <a:ext cx="402336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1810512"/>
            <a:ext cx="3657600" cy="182880"/>
          </a:xfrm>
          <a:prstGeom prst="rect">
            <a:avLst/>
          </a:prstGeom>
          <a:noFill/>
        </p:spPr>
        <p:txBody>
          <a:bodyPr wrap="square" lIns="0" tIns="0" rIns="0" bIns="0" anchor="t">
            <a:spAutoFit/>
          </a:bodyPr>
          <a:lstStyle/>
          <a:p>
            <a:r>
              <a:rPr sz="950" b="1" i="0" spc="100">
                <a:solidFill>
                  <a:srgbClr val="5B3BA8"/>
                </a:solidFill>
                <a:latin typeface="Calibri"/>
              </a:rPr>
              <a:t>CHALLENGES</a:t>
            </a:r>
          </a:p>
        </p:txBody>
      </p:sp>
      <p:sp>
        <p:nvSpPr>
          <p:cNvPr id="28" name="TextBox 27"/>
          <p:cNvSpPr txBox="1"/>
          <p:nvPr/>
        </p:nvSpPr>
        <p:spPr>
          <a:xfrm>
            <a:off x="658368" y="2084831"/>
            <a:ext cx="3657600" cy="2468880"/>
          </a:xfrm>
          <a:prstGeom prst="rect">
            <a:avLst/>
          </a:prstGeom>
          <a:noFill/>
        </p:spPr>
        <p:txBody>
          <a:bodyPr wrap="square" lIns="0" tIns="0" rIns="0" bIns="0" anchor="t">
            <a:spAutoFit/>
          </a:bodyPr>
          <a:lstStyle/>
          <a:p>
            <a:pPr marL="155448" indent="-155448">
              <a:spcAft>
                <a:spcPts val="900"/>
              </a:spcAft>
              <a:buClr>
                <a:srgbClr val="E8639F"/>
              </a:buClr>
              <a:buFont typeface="Arial"/>
              <a:buChar char="•"/>
            </a:pPr>
            <a:r>
              <a:rPr sz="1300" b="0" i="0">
                <a:solidFill>
                  <a:srgbClr val="3B3470"/>
                </a:solidFill>
                <a:latin typeface="Calibri"/>
              </a:rPr>
              <a:t>Real channels are noisy, so a degraded link can look like an active attack</a:t>
            </a:r>
          </a:p>
          <a:p>
            <a:pPr marL="155448" indent="-155448">
              <a:spcAft>
                <a:spcPts val="900"/>
              </a:spcAft>
              <a:buClr>
                <a:srgbClr val="E8639F"/>
              </a:buClr>
              <a:buFont typeface="Arial"/>
              <a:buChar char="•"/>
            </a:pPr>
            <a:r>
              <a:rPr sz="1300" b="0" i="0">
                <a:solidFill>
                  <a:srgbClr val="3B3470"/>
                </a:solidFill>
                <a:latin typeface="Calibri"/>
              </a:rPr>
              <a:t>Separating ordinary noise from interception in the measured results</a:t>
            </a:r>
          </a:p>
          <a:p>
            <a:pPr marL="155448" indent="-155448">
              <a:spcAft>
                <a:spcPts val="900"/>
              </a:spcAft>
              <a:buClr>
                <a:srgbClr val="E8639F"/>
              </a:buClr>
              <a:buFont typeface="Arial"/>
              <a:buChar char="•"/>
            </a:pPr>
            <a:r>
              <a:rPr sz="1300" b="0" i="0">
                <a:solidFill>
                  <a:srgbClr val="3B3470"/>
                </a:solidFill>
                <a:latin typeface="Calibri"/>
              </a:rPr>
              <a:t>Keeping keys secure across the usable noise range by shortening them</a:t>
            </a:r>
          </a:p>
          <a:p>
            <a:pPr marL="155448" indent="-155448">
              <a:buClr>
                <a:srgbClr val="E8639F"/>
              </a:buClr>
              <a:buFont typeface="Arial"/>
              <a:buChar char="•"/>
            </a:pPr>
            <a:r>
              <a:rPr sz="1300" b="0" i="0">
                <a:solidFill>
                  <a:srgbClr val="3B3470"/>
                </a:solidFill>
                <a:latin typeface="Calibri"/>
              </a:rPr>
              <a:t>Validating simulated behaviour on real IBM hardware</a:t>
            </a:r>
          </a:p>
        </p:txBody>
      </p:sp>
      <p:sp>
        <p:nvSpPr>
          <p:cNvPr id="29" name="Rounded Rectangle 28"/>
          <p:cNvSpPr/>
          <p:nvPr/>
        </p:nvSpPr>
        <p:spPr>
          <a:xfrm>
            <a:off x="4663440" y="1691640"/>
            <a:ext cx="4023360" cy="2926080"/>
          </a:xfrm>
          <a:prstGeom prst="roundRect">
            <a:avLst>
              <a:gd name="adj" fmla="val 5000"/>
            </a:avLst>
          </a:prstGeom>
          <a:solidFill>
            <a:srgbClr val="FFFFFF"/>
          </a:solidFill>
          <a:ln w="9525">
            <a:solidFill>
              <a:srgbClr val="B8B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64608" y="1810512"/>
            <a:ext cx="3657600" cy="182880"/>
          </a:xfrm>
          <a:prstGeom prst="rect">
            <a:avLst/>
          </a:prstGeom>
          <a:noFill/>
        </p:spPr>
        <p:txBody>
          <a:bodyPr wrap="square" lIns="0" tIns="0" rIns="0" bIns="0" anchor="t">
            <a:spAutoFit/>
          </a:bodyPr>
          <a:lstStyle/>
          <a:p>
            <a:r>
              <a:rPr sz="950" b="1" i="0" spc="100">
                <a:solidFill>
                  <a:srgbClr val="E8639F"/>
                </a:solidFill>
                <a:latin typeface="Calibri"/>
              </a:rPr>
              <a:t>FUTURE SCOPE</a:t>
            </a:r>
          </a:p>
        </p:txBody>
      </p:sp>
      <p:sp>
        <p:nvSpPr>
          <p:cNvPr id="31" name="TextBox 30"/>
          <p:cNvSpPr txBox="1"/>
          <p:nvPr/>
        </p:nvSpPr>
        <p:spPr>
          <a:xfrm>
            <a:off x="4864608" y="2084831"/>
            <a:ext cx="3657600" cy="2468880"/>
          </a:xfrm>
          <a:prstGeom prst="rect">
            <a:avLst/>
          </a:prstGeom>
          <a:noFill/>
        </p:spPr>
        <p:txBody>
          <a:bodyPr wrap="square" lIns="0" tIns="0" rIns="0" bIns="0" anchor="t">
            <a:spAutoFit/>
          </a:bodyPr>
          <a:lstStyle/>
          <a:p>
            <a:pPr marL="155448" indent="-155448">
              <a:spcAft>
                <a:spcPts val="900"/>
              </a:spcAft>
              <a:buClr>
                <a:srgbClr val="E8639F"/>
              </a:buClr>
              <a:buFont typeface="Arial"/>
              <a:buChar char="•"/>
            </a:pPr>
            <a:r>
              <a:rPr sz="1300" b="0" i="0">
                <a:solidFill>
                  <a:srgbClr val="3B3470"/>
                </a:solidFill>
                <a:latin typeface="Calibri"/>
              </a:rPr>
              <a:t>Apply the Trust Meter to real fibre, satellite and field links</a:t>
            </a:r>
          </a:p>
          <a:p>
            <a:pPr marL="155448" indent="-155448">
              <a:spcAft>
                <a:spcPts val="900"/>
              </a:spcAft>
              <a:buClr>
                <a:srgbClr val="E8639F"/>
              </a:buClr>
              <a:buFont typeface="Arial"/>
              <a:buChar char="•"/>
            </a:pPr>
            <a:r>
              <a:rPr sz="1300" b="0" i="0">
                <a:solidFill>
                  <a:srgbClr val="3B3470"/>
                </a:solidFill>
                <a:latin typeface="Calibri"/>
              </a:rPr>
              <a:t>Extend real-hardware validation, including Eve on real hardware</a:t>
            </a:r>
          </a:p>
          <a:p>
            <a:pPr marL="155448" indent="-155448">
              <a:spcAft>
                <a:spcPts val="900"/>
              </a:spcAft>
              <a:buClr>
                <a:srgbClr val="E8639F"/>
              </a:buClr>
              <a:buFont typeface="Arial"/>
              <a:buChar char="•"/>
            </a:pPr>
            <a:r>
              <a:rPr sz="1300" b="0" i="0">
                <a:solidFill>
                  <a:srgbClr val="3B3470"/>
                </a:solidFill>
                <a:latin typeface="Calibri"/>
              </a:rPr>
              <a:t>Help teams judge channels before investing in QKD hardware</a:t>
            </a:r>
          </a:p>
          <a:p>
            <a:pPr marL="155448" indent="-155448">
              <a:buClr>
                <a:srgbClr val="E8639F"/>
              </a:buClr>
              <a:buFont typeface="Arial"/>
              <a:buChar char="•"/>
            </a:pPr>
            <a:r>
              <a:rPr sz="1300" b="0" i="0">
                <a:solidFill>
                  <a:srgbClr val="3B3470"/>
                </a:solidFill>
                <a:latin typeface="Calibri"/>
              </a:rPr>
              <a:t>Keep the end-to-end demo: quantum key exchange to protected chat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356616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pPr marL="0" indent="0" algn="l">
              <a:buNone/>
            </a:pPr>
            <a:r>
              <a:rPr lang="en-US" sz="900" i="0" dirty="0" b="1">
                <a:solidFill>
                  <a:srgbClr val="2E1B5B"/>
                </a:solidFill>
                <a:latin typeface="Calibri" pitchFamily="34" charset="0"/>
                <a:ea typeface="Calibri" pitchFamily="34" charset="-122"/>
                <a:cs typeface="Calibri" pitchFamily="34" charset="-120"/>
                <a:hlinkClick r:id="rId7"/>
              </a:rPr>
              <a:t>github.com/sharshavardhaan05-rgb/vtu-hc-qubits-infernova</a:t>
            </a:r>
            <a:endParaRPr lang="en-US" sz="900" dirty="0"/>
          </a:p>
        </p:txBody>
      </p:sp>
      <p:sp>
        <p:nvSpPr>
          <p:cNvPr id="6" name="Field: DEMO VIDEO LINK"/>
          <p:cNvSpPr/>
          <p:nvPr/>
        </p:nvSpPr>
        <p:spPr>
          <a:xfrm>
            <a:off x="4114800" y="3291840"/>
            <a:ext cx="16002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endParaRPr lang="en-US" sz="900" dirty="0"/>
          </a:p>
          <a:p>
            <a:pPr marL="0" indent="0" algn="l">
              <a:buNone/>
            </a:pPr>
            <a:r>
              <a:rPr lang="en-US" sz="1050" i="0" dirty="0" b="1">
                <a:solidFill>
                  <a:srgbClr val="2E1B5B"/>
                </a:solidFill>
                <a:latin typeface="Calibri" pitchFamily="34" charset="0"/>
                <a:ea typeface="Calibri" pitchFamily="34" charset="-122"/>
                <a:cs typeface="Calibri" pitchFamily="34" charset="-120"/>
                <a:hlinkClick r:id="rId8"/>
              </a:rPr>
              <a:t>youtu.be/OWE-jyP49VE</a:t>
            </a:r>
            <a:endParaRPr lang="en-US" sz="900" dirty="0"/>
          </a:p>
        </p:txBody>
      </p:sp>
      <p:pic>
        <p:nvPicPr>
          <p:cNvPr id="7" name="Bloch sphere ring" descr="sphere.png"/>
          <p:cNvPicPr>
            <a:picLocks noChangeAspect="1"/>
          </p:cNvPicPr>
          <p:nvPr/>
        </p:nvPicPr>
        <p:blipFill>
          <a:blip r:embed="rId3"/>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4"/>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5"/>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6"/>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